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71" r:id="rId8"/>
    <p:sldId id="272" r:id="rId9"/>
    <p:sldId id="262" r:id="rId10"/>
    <p:sldId id="263" r:id="rId11"/>
    <p:sldId id="264" r:id="rId12"/>
    <p:sldId id="273" r:id="rId13"/>
    <p:sldId id="266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58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3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03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00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7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3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96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7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57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6740A-3E28-4C86-AA6B-DE0AB5C48EB9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59B5-C5D5-4B90-A710-86FDD7C2B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9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Instructions: Language of the Computer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# </a:t>
            </a:r>
            <a:r>
              <a:rPr lang="en-US" dirty="0" smtClean="0"/>
              <a:t>07</a:t>
            </a:r>
          </a:p>
          <a:p>
            <a:r>
              <a:rPr lang="en-US" dirty="0"/>
              <a:t>Computer Organization and Assembly Language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02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 versus Pointers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4562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This section shows C and MIPS assembly versions of two procedures to clear a sequence of words in memory</a:t>
            </a:r>
          </a:p>
          <a:p>
            <a:pPr lvl="1"/>
            <a:r>
              <a:rPr lang="en-US" dirty="0" smtClean="0"/>
              <a:t>one using array indices</a:t>
            </a:r>
          </a:p>
          <a:p>
            <a:pPr lvl="1"/>
            <a:r>
              <a:rPr lang="en-US" dirty="0" smtClean="0"/>
              <a:t>one using pointers</a:t>
            </a:r>
          </a:p>
          <a:p>
            <a:r>
              <a:rPr lang="en-US" dirty="0" smtClean="0"/>
              <a:t>The purpose of this section is to show how pointers map into MIPS instructions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707" y="3466531"/>
            <a:ext cx="8076184" cy="33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87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303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move $t0,$zero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loop1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t0,2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$t2,$a0,$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$zero, 0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</a:t>
            </a:r>
            <a:r>
              <a:rPr lang="en-US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t2)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t0,1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$t3,$t0,$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t3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zero,loop1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5122"/>
          <a:stretch/>
        </p:blipFill>
        <p:spPr>
          <a:xfrm>
            <a:off x="4436944" y="230188"/>
            <a:ext cx="5829300" cy="1343381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868538" y="1825625"/>
            <a:ext cx="6323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$t1 =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$t2 = address of array[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array[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$t3 = (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size)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if (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size) go to loop1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7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which registers the two parameters array[] and size are stored?</a:t>
            </a:r>
          </a:p>
          <a:p>
            <a:pPr marL="228600" lvl="1">
              <a:spcBef>
                <a:spcPts val="1000"/>
              </a:spcBef>
            </a:pPr>
            <a:r>
              <a:rPr lang="en-US" dirty="0" smtClean="0"/>
              <a:t>In the registers 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$a0 </a:t>
            </a:r>
            <a:r>
              <a:rPr lang="en-US" dirty="0" smtClean="0"/>
              <a:t>and 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$a1</a:t>
            </a:r>
          </a:p>
          <a:p>
            <a:r>
              <a:rPr lang="en-US" dirty="0" smtClean="0"/>
              <a:t>Assume that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/>
              <a:t>is allocated to register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</a:p>
          <a:p>
            <a:r>
              <a:rPr lang="en-US" dirty="0" smtClean="0"/>
              <a:t>The initialization of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/>
              <a:t>, the first part of the for loop, is straightforward:</a:t>
            </a:r>
          </a:p>
          <a:p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$t0,$zero #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 (register $t0 = 0)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5122"/>
          <a:stretch/>
        </p:blipFill>
        <p:spPr>
          <a:xfrm>
            <a:off x="4436944" y="230188"/>
            <a:ext cx="5829300" cy="134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9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 set array[</a:t>
            </a:r>
            <a:r>
              <a:rPr lang="en-US" dirty="0" err="1" smtClean="0"/>
              <a:t>i</a:t>
            </a:r>
            <a:r>
              <a:rPr lang="en-US" dirty="0" smtClean="0"/>
              <a:t>] to 0 we must first get its address. Start by multiplying </a:t>
            </a:r>
            <a:r>
              <a:rPr lang="en-US" dirty="0" err="1" smtClean="0"/>
              <a:t>i</a:t>
            </a:r>
            <a:r>
              <a:rPr lang="en-US" dirty="0" smtClean="0"/>
              <a:t> by 4 to get the byte address:</a:t>
            </a:r>
          </a:p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loop1: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$t1,$t0,2 # $t1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4</a:t>
            </a:r>
          </a:p>
          <a:p>
            <a:r>
              <a:rPr lang="en-US" dirty="0" smtClean="0"/>
              <a:t>Since the starting address of the array is in a register, we must add it to the index to get the address of array[</a:t>
            </a:r>
            <a:r>
              <a:rPr lang="en-US" dirty="0" err="1" smtClean="0"/>
              <a:t>i</a:t>
            </a:r>
            <a:r>
              <a:rPr lang="en-US" dirty="0" smtClean="0"/>
              <a:t>] using an add instruction:</a:t>
            </a:r>
          </a:p>
          <a:p>
            <a:pPr>
              <a:lnSpc>
                <a:spcPct val="110000"/>
              </a:lnSpc>
            </a:pP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$t2,$a0,$t1 # $t2 = address of array[</a:t>
            </a: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 smtClean="0"/>
              <a:t>Finally, we can store 0 in that address:</a:t>
            </a:r>
          </a:p>
          <a:p>
            <a:pPr>
              <a:lnSpc>
                <a:spcPct val="100000"/>
              </a:lnSpc>
            </a:pP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$zero, 0($t2) # array[</a:t>
            </a: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0</a:t>
            </a:r>
            <a:b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3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5122"/>
          <a:stretch/>
        </p:blipFill>
        <p:spPr>
          <a:xfrm>
            <a:off x="4436944" y="230188"/>
            <a:ext cx="5829300" cy="134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35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instruction is the end of the body of the loop, so the next step is to increment i: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$t0,$t0,1 #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r>
              <a:rPr lang="en-US" dirty="0" smtClean="0"/>
              <a:t>The loop test checks if </a:t>
            </a:r>
            <a:r>
              <a:rPr lang="en-US" dirty="0" err="1" smtClean="0"/>
              <a:t>i</a:t>
            </a:r>
            <a:r>
              <a:rPr lang="en-US" dirty="0" smtClean="0"/>
              <a:t> is less than size: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$t3,$t0,$a1 # $t3 = 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size)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$t3,$zero,loop1 # if 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size) go to loop1</a:t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5122"/>
          <a:stretch/>
        </p:blipFill>
        <p:spPr>
          <a:xfrm>
            <a:off x="4436944" y="230188"/>
            <a:ext cx="5829300" cy="134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5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3033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move $t0,$zero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loop1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t0,2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$t2,$a0,$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$zero, 0($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t0,1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$t3,$t0,$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a1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t3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zero,loop1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5122"/>
          <a:stretch/>
        </p:blipFill>
        <p:spPr>
          <a:xfrm>
            <a:off x="4436944" y="230188"/>
            <a:ext cx="5829300" cy="1343381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868538" y="1825625"/>
            <a:ext cx="6323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$t1 =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$t2 = address of array[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array[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$t3 = (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size)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if (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size) go to loop1</a:t>
            </a:r>
            <a:b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2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898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a0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loop2: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zero,0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($t0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t0,4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$t1,$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a1,2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$t2,$a0,$t1 </a:t>
            </a:r>
            <a:endParaRPr 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$t3,$t0,$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$t3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zero,loop2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3039" b="-428"/>
          <a:stretch/>
        </p:blipFill>
        <p:spPr>
          <a:xfrm>
            <a:off x="4791786" y="598097"/>
            <a:ext cx="5829300" cy="116006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428096" y="1825624"/>
            <a:ext cx="5763904" cy="4547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 = address of array[0]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Memory[p]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 = p + 4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$t1 = size *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$t2 = address of array[size]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$t3 = (p&lt;&amp;array[size])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if (p&lt;&amp;array[size]) go to loop2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756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</a:t>
            </a:r>
            <a:r>
              <a:rPr lang="en-US" dirty="0" smtClean="0"/>
              <a:t>he two parameters array and size to the registers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$a0 </a:t>
            </a:r>
            <a:r>
              <a:rPr lang="en-US" dirty="0" smtClean="0"/>
              <a:t>and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$a1 </a:t>
            </a:r>
            <a:r>
              <a:rPr lang="en-US" dirty="0" smtClean="0"/>
              <a:t>and allocates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dirty="0" smtClean="0"/>
              <a:t> to register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</a:t>
            </a:r>
          </a:p>
          <a:p>
            <a:r>
              <a:rPr lang="en-US" dirty="0" smtClean="0"/>
              <a:t>The code for the second procedure starts with assigning the pointer p to the address of the first element of the array:</a:t>
            </a:r>
          </a:p>
          <a:p>
            <a:pPr>
              <a:lnSpc>
                <a:spcPct val="110000"/>
              </a:lnSpc>
            </a:pP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$t0,$a0 # p = address of array[0]</a:t>
            </a:r>
          </a:p>
          <a:p>
            <a:r>
              <a:rPr lang="en-US" dirty="0" smtClean="0"/>
              <a:t>The next code is the body of the for loop, which simply stores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 smtClean="0"/>
              <a:t> into p:</a:t>
            </a:r>
          </a:p>
          <a:p>
            <a:pPr>
              <a:lnSpc>
                <a:spcPct val="110000"/>
              </a:lnSpc>
            </a:pP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loop2: </a:t>
            </a: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$zero,0($t0) # Memory[p] = 0</a:t>
            </a:r>
          </a:p>
          <a:p>
            <a:r>
              <a:rPr lang="en-US" dirty="0" smtClean="0"/>
              <a:t>This instruction implements the body of the loop, so the next code is the iteration increment, which changes p to point to the next word:</a:t>
            </a:r>
          </a:p>
          <a:p>
            <a:pPr>
              <a:lnSpc>
                <a:spcPct val="100000"/>
              </a:lnSpc>
            </a:pP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$t0,$t0,4 # p = p + 4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3039" b="-428"/>
          <a:stretch/>
        </p:blipFill>
        <p:spPr>
          <a:xfrm>
            <a:off x="4791786" y="598097"/>
            <a:ext cx="5829300" cy="116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6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Incrementing a pointer by 1 means moving the pointer to the next sequential object in C</a:t>
            </a:r>
          </a:p>
          <a:p>
            <a:r>
              <a:rPr lang="en-US" dirty="0" smtClean="0"/>
              <a:t>Since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dirty="0" smtClean="0"/>
              <a:t> is a pointer to integers, each of which uses 4 bytes, the compiler increments p by 4.</a:t>
            </a:r>
          </a:p>
          <a:p>
            <a:r>
              <a:rPr lang="en-US" dirty="0" smtClean="0"/>
              <a:t>The loop test is next. The first step is calculating the address of the last element of array. Start with multiplying size by 4 to get its byte address:</a:t>
            </a:r>
          </a:p>
          <a:p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$t1,$a1,2 # $t1 = size * 4</a:t>
            </a:r>
          </a:p>
          <a:p>
            <a:r>
              <a:rPr lang="en-US" dirty="0" smtClean="0"/>
              <a:t>and then we add the product to the starting address of the array to get the address of the first word after the array: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 $t2,$a0,$t1 # $t2 = address of array[size]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3039" b="-428"/>
          <a:stretch/>
        </p:blipFill>
        <p:spPr>
          <a:xfrm>
            <a:off x="4791786" y="598097"/>
            <a:ext cx="5829300" cy="116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3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loop test is simply to see if p is less than the last element of array: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$t3,$t0,$t2 # $t3 = (p&lt;&amp;array[size])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$t3,$zero,loop2 # if (p&lt;&amp;array[size]) go to loop2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3039" b="-428"/>
          <a:stretch/>
        </p:blipFill>
        <p:spPr>
          <a:xfrm>
            <a:off x="4791786" y="598097"/>
            <a:ext cx="5829300" cy="116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53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898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move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a0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loop2: 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zero,0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($t0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t0,4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$t1,$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a1,2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$t2,$a0,$t1 </a:t>
            </a:r>
            <a:endParaRPr lang="en-US" dirty="0" smtClean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$t3,$t0,$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t2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$t3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,$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zero,loop2</a:t>
            </a: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3039" b="-428"/>
          <a:stretch/>
        </p:blipFill>
        <p:spPr>
          <a:xfrm>
            <a:off x="4791786" y="598097"/>
            <a:ext cx="5829300" cy="116006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428096" y="1825624"/>
            <a:ext cx="5763904" cy="4547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 = address of array[0]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Memory[p] =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 = p + 4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$t1 = size *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$t2 = address of array[size]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$t3 = (p&lt;&amp;array[size])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if (p&lt;&amp;array[size]) go to loop2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53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Pointer 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Note that this program calculates the address of the end of the array in </a:t>
            </a:r>
            <a:r>
              <a:rPr lang="en-US" dirty="0" smtClean="0"/>
              <a:t>every iteration </a:t>
            </a:r>
            <a:r>
              <a:rPr lang="en-US" dirty="0"/>
              <a:t>of the loop, even though it does not change.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faster version of the </a:t>
            </a:r>
            <a:r>
              <a:rPr lang="en-US" dirty="0" smtClean="0"/>
              <a:t>code moves </a:t>
            </a:r>
            <a:r>
              <a:rPr lang="en-US" dirty="0"/>
              <a:t>this calculation outside the loop:</a:t>
            </a:r>
            <a:br>
              <a:rPr lang="en-US" dirty="0"/>
            </a:br>
            <a:r>
              <a:rPr lang="en-US" sz="2200" dirty="0" smtClean="0"/>
              <a:t>	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$t0,$a0 # p = address of array[0]</a:t>
            </a:r>
            <a:b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sll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$t1,$a1,2 # $t1 = size * 4</a:t>
            </a:r>
            <a:b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add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$t2,$a0,$t1 # $t2 = address of array[size]</a:t>
            </a:r>
            <a:b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loop2: </a:t>
            </a:r>
            <a:r>
              <a:rPr lang="en-US" sz="2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$zero,0($t0) # Memory[p] = 0</a:t>
            </a:r>
            <a:b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$t0,$t0,4 # p = p + 4</a:t>
            </a:r>
            <a:b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$t3,$t0,$t2 # $t3 = (p&lt;&amp;array[size])</a:t>
            </a:r>
            <a:b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bne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$t3,$zero,loop2 # if (p&lt;&amp;array[size]) go to </a:t>
            </a:r>
            <a:r>
              <a:rPr lang="en-US" sz="22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loop2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3039" b="-428"/>
          <a:stretch/>
        </p:blipFill>
        <p:spPr>
          <a:xfrm>
            <a:off x="4791786" y="598097"/>
            <a:ext cx="5829300" cy="116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the Two Versions of Clear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4061063"/>
            <a:ext cx="5157787" cy="2128600"/>
          </a:xfrm>
        </p:spPr>
        <p:txBody>
          <a:bodyPr>
            <a:normAutofit/>
          </a:bodyPr>
          <a:lstStyle/>
          <a:p>
            <a:r>
              <a:rPr lang="en-US" dirty="0" smtClean="0"/>
              <a:t>Array version must have the “multiply” and add inside the loop because </a:t>
            </a: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 smtClean="0"/>
              <a:t> is incremented and each address must be recalculated from the new index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4061063"/>
            <a:ext cx="5183188" cy="2128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Pointer version increments the pointer p directly. The pointer version moves the scaling shift and the array bound addition outside the loop, thereby reducing the instructions executed per iteration from 6 to 4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1599"/>
            <a:ext cx="12102525" cy="237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the Two Versions of Clear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the conclusion?</a:t>
            </a:r>
          </a:p>
          <a:p>
            <a:pPr lvl="1"/>
            <a:r>
              <a:rPr lang="en-US" dirty="0" smtClean="0"/>
              <a:t>This manual optimization corresponds to the compiler optimization of strength reduction (shift instead of multiply) and induction variable elimination (eliminating array address calculations within loops).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12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971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Courier New</vt:lpstr>
      <vt:lpstr>Office Theme</vt:lpstr>
      <vt:lpstr>Instructions: Language of the Computer</vt:lpstr>
      <vt:lpstr>Arrays versus Pointers</vt:lpstr>
      <vt:lpstr>Array Version</vt:lpstr>
      <vt:lpstr>Array Version</vt:lpstr>
      <vt:lpstr>Array Version</vt:lpstr>
      <vt:lpstr>Array Version</vt:lpstr>
      <vt:lpstr>Array Version</vt:lpstr>
      <vt:lpstr>Pointer Version</vt:lpstr>
      <vt:lpstr>Pointer Version</vt:lpstr>
      <vt:lpstr>Pointer Version</vt:lpstr>
      <vt:lpstr>Pointer Version</vt:lpstr>
      <vt:lpstr>Pointer Version</vt:lpstr>
      <vt:lpstr>Pointer Version</vt:lpstr>
      <vt:lpstr>Comparing the Two Versions of Clear</vt:lpstr>
      <vt:lpstr>Comparing the Two Versions of Clear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Farhan Ahmad</dc:creator>
  <cp:lastModifiedBy>Farhan Ahmad</cp:lastModifiedBy>
  <cp:revision>63</cp:revision>
  <dcterms:created xsi:type="dcterms:W3CDTF">2024-03-27T11:31:58Z</dcterms:created>
  <dcterms:modified xsi:type="dcterms:W3CDTF">2024-03-28T03:14:26Z</dcterms:modified>
</cp:coreProperties>
</file>