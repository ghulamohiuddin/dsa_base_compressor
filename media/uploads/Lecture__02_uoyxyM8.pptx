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Play"/>
      <p:regular r:id="rId44"/>
      <p:bold r:id="rId45"/>
    </p:embeddedFont>
    <p:embeddedFont>
      <p:font typeface="EB Garamond"/>
      <p:regular r:id="rId46"/>
      <p:bold r:id="rId47"/>
      <p:italic r:id="rId48"/>
      <p:boldItalic r:id="rId49"/>
    </p:embeddedFont>
    <p:embeddedFont>
      <p:font typeface="Oi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hWcbypbwm7fjQdN8WFiEZ+2Tp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D7E5E7-5C88-4AEB-8A2F-5383BE0B1C62}">
  <a:tblStyle styleId="{25D7E5E7-5C88-4AEB-8A2F-5383BE0B1C6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9EC"/>
          </a:solidFill>
        </a:fill>
      </a:tcStyle>
    </a:band1H>
    <a:band2H>
      <a:tcTxStyle/>
    </a:band2H>
    <a:band1V>
      <a:tcTxStyle/>
      <a:tcStyle>
        <a:fill>
          <a:solidFill>
            <a:srgbClr val="E7E9EC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lay-regular.fntdata"/><Relationship Id="rId43" Type="http://schemas.openxmlformats.org/officeDocument/2006/relationships/slide" Target="slides/slide38.xml"/><Relationship Id="rId46" Type="http://schemas.openxmlformats.org/officeDocument/2006/relationships/font" Target="fonts/EBGaramond-regular.fntdata"/><Relationship Id="rId45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EBGaramond-italic.fntdata"/><Relationship Id="rId47" Type="http://schemas.openxmlformats.org/officeDocument/2006/relationships/font" Target="fonts/EBGaramond-bold.fntdata"/><Relationship Id="rId49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Oi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Instructions: </a:t>
            </a:r>
            <a:br>
              <a:rPr lang="en-US"/>
            </a:br>
            <a:r>
              <a:rPr lang="en-US"/>
              <a:t>The Language of the Computer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Lecture # 02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Computer Organization and Assembly Language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Computer Instructions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are the instructions?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commands that tell a computer what to do.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instructions are written in a programming language, which is a language that a computer can understand.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is instruction set?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 instruction set is also known as an instruction set architecture (ISA)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a set of commands that a processor can understand and execute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These instructions tell the processor what operations to perform, such as arithmetic, data manipulation, and input/output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is specific purpose of ISA?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ISA acts as an interface between the hardware and the software, specifying both what the processor is capable of doing as well as how it gets done.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many ISA we have?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Common ISAs include x86, ARM, PowerPC, RISC-V and MIPS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Why MIPS Instruction Set?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course, we will focus on MIPS architecture and why?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Its is an elegant example of the instruction sets designed since the 1980s.</a:t>
            </a:r>
            <a:endParaRPr/>
          </a:p>
        </p:txBody>
      </p:sp>
      <p:graphicFrame>
        <p:nvGraphicFramePr>
          <p:cNvPr id="98" name="Google Shape;98;p3"/>
          <p:cNvGraphicFramePr/>
          <p:nvPr/>
        </p:nvGraphicFramePr>
        <p:xfrm>
          <a:off x="1116520" y="30810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{25D7E5E7-5C88-4AEB-8A2F-5383BE0B1C62}</a:tableStyleId>
              </a:tblPr>
              <a:tblGrid>
                <a:gridCol w="1991800"/>
                <a:gridCol w="1991800"/>
                <a:gridCol w="1991800"/>
                <a:gridCol w="1991800"/>
                <a:gridCol w="1991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Feature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MIPS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ARM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x86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RISC-V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Complexity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Simpler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More Complex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Most Complex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Moderately Complex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Open Source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Yes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Less Open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Closed Source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Open Source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Focus on Concepts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Strong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Moderate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Weak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Moderate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Documentation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Extensive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Good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Moderate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Growing</a:t>
                      </a:r>
                      <a:endParaRPr b="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2400" marB="152400" marR="152400" marL="152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Why MIPS Instruction Set? (Contd.)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825624"/>
            <a:ext cx="10515600" cy="4876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Why MIPS is often chosen as a base for studying computer architecture over ARM, x86, or RISC-V?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Simplicity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MIPS has a simple and regular instruction set architecture (ISA)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Easier for students to understand the fundamental concepts of computer architecture, like pipelining, caching, and hazard detection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Its clean design allows focusing on core concepts without the complexities of legacy architectures like x86.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Open Source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Its open-source license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Freely available tools and simulators are crucial for hands-on learning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Focus on Concepts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Unlike x86 which has grown complex over time due to backward compatibility, MIPS offers a clean separation between core concepts and implementation details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Well-Documented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MIPS has extensive and well-maintained documentation, making it easier for students to learn about the architecture and its features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Operations of the Computer Hardware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Every computer must be able to perform arithmetic.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Example, the MIPS assembly language notation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			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 a, b, c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/>
              <a:t>It instructs the computer to </a:t>
            </a: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2200"/>
              <a:t> the two variables </a:t>
            </a: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200"/>
              <a:t> and </a:t>
            </a: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2200"/>
              <a:t> and to put their sum in </a:t>
            </a: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many operations can be performed in single MIPS instruction?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MIPS arithmetic instruction performs only </a:t>
            </a:r>
            <a:r>
              <a:rPr lang="en-US">
                <a:solidFill>
                  <a:srgbClr val="FF0000"/>
                </a:solidFill>
              </a:rPr>
              <a:t>one operation </a:t>
            </a:r>
            <a:r>
              <a:rPr lang="en-US"/>
              <a:t>and must always have exactly </a:t>
            </a:r>
            <a:r>
              <a:rPr lang="en-US">
                <a:solidFill>
                  <a:srgbClr val="FF0000"/>
                </a:solidFill>
              </a:rPr>
              <a:t>three variables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example, </a:t>
            </a: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 = b+c+d+e </a:t>
            </a:r>
            <a:r>
              <a:rPr lang="en-US"/>
              <a:t>follows the sequence as given below: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 a, b, c</a:t>
            </a:r>
            <a:r>
              <a:rPr lang="en-US"/>
              <a:t> 	# The sum of b and c is placed in a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 a, a, d 	</a:t>
            </a:r>
            <a:r>
              <a:rPr lang="en-US"/>
              <a:t># The sum of b, c, and d is now in a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 a, a, e 	</a:t>
            </a:r>
            <a:r>
              <a:rPr lang="en-US"/>
              <a:t># The sum of b, c, d, and e is now in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Thus, it takes three instructions to sum the four variables.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Operands of the Computer Hardware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Where are operands in Assembly language?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Operands of arithmetic instructions are in limited number of special locations in hardware and called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are registers?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Registers are  high-speed temporary storage units built directly into the central processing unit (CPU)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They act as the CPU's immediate workspace,  holding data and instructions that are currently being processed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the size of MIPS registers?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size of a register in the MIPS architecture is 32 bits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Operands of the Computer Hardware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Variable in Programming vs Registers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Variables in Programming Languages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Variables are named storage locations in a program's memory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programmer creates variables to store data that the program will use during its execution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theory, a programming language can allow for an unlimited number of variables, as long as there's enough memory available to store them.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Registers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Registers are part of the CPU and serve as the CPU's immediate workspace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They store data and instructions that are currently being processed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There are a limited number of registers, typically 32 in MIPS processors.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Operands of the Computer Hardware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number of registers are increased?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very large number of registers may increase the clock cycle time. Because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Signal Propagation Delay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Electronic signals take time to travel within a circuit. With a very large number of registers, the distance that signals need to travel to access specific registers increases. This can lead to a delay in accessing and manipulating data in those registers.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Decoder Complexity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The CPU needs circuitry to decode instructions and determine which register holds the required data.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With a large number of registers, this decoding logic becomes more complex, potentially slowing down the entire process.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Operands of the Computer Hardware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are registered names in MIPS?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MIPS convention is to use two-character names following a dollar sign to represent a register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$s0, $s1, . . . for registers that correspond to variables in 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$t0, $t1, . . . for temporary registers needed to compile the program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Example:</a:t>
            </a:r>
            <a:endParaRPr/>
          </a:p>
        </p:txBody>
      </p:sp>
      <p:pic>
        <p:nvPicPr>
          <p:cNvPr id="140" name="Google Shape;14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258" y="1577753"/>
            <a:ext cx="9286875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362" y="2219325"/>
            <a:ext cx="943927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Operands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Programming languages have simple variables that contain single data elements char, int, float, bool.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there are complex data structures—arrays and structures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These complex data structures can contain many more data elements than there are registers in a computer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can a computer represent and access such large structures?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processor can keep only a small amount of data in registers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But computer memory contains billions of data elements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Hence, data structures  (arrays and structures) are kept in memory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Operands</a:t>
            </a:r>
            <a:endParaRPr/>
          </a:p>
        </p:txBody>
      </p:sp>
      <p:sp>
        <p:nvSpPr>
          <p:cNvPr id="159" name="Google Shape;15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MIPS, arithmetic operations occur only on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which instructions exchange data between memory and registers?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Instructions that transfer data between memory and registers are called </a:t>
            </a:r>
            <a:r>
              <a:rPr b="1" lang="en-US"/>
              <a:t>data transfer instructions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access a word in memory, the instruction must supply the memory address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memory address?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Memory is just a large, single-dimensional array, with the address acting as the index to that array, starting at 0.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Operands</a:t>
            </a:r>
            <a:endParaRPr/>
          </a:p>
        </p:txBody>
      </p:sp>
      <p:sp>
        <p:nvSpPr>
          <p:cNvPr id="165" name="Google Shape;16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address of the third data element is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value of Memory [2] is 10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3282" y="2792876"/>
            <a:ext cx="8445436" cy="40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Operands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047875"/>
            <a:ext cx="10058400" cy="4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Operands: Load Word instruction</a:t>
            </a:r>
            <a:endParaRPr/>
          </a:p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instruction is used to copy data from memery to a register?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transfer instruction that </a:t>
            </a:r>
            <a:r>
              <a:rPr b="1" lang="en-US">
                <a:solidFill>
                  <a:srgbClr val="FF0000"/>
                </a:solidFill>
              </a:rPr>
              <a:t>copies data from memory to a register </a:t>
            </a:r>
            <a:r>
              <a:rPr lang="en-US"/>
              <a:t>is called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lw </a:t>
            </a:r>
            <a:r>
              <a:rPr lang="en-US"/>
              <a:t>load word instruction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load a word (4 bytes) of data from memory into a register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Syntax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		lw rt, offset(rs)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rt</a:t>
            </a:r>
            <a:r>
              <a:rPr lang="en-US" sz="2000"/>
              <a:t>: specifies the </a:t>
            </a:r>
            <a:r>
              <a:rPr b="1" lang="en-US" sz="2000"/>
              <a:t>destination register </a:t>
            </a:r>
            <a:r>
              <a:rPr lang="en-US" sz="2000"/>
              <a:t>where the loaded word will be stored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offset</a:t>
            </a:r>
            <a:r>
              <a:rPr lang="en-US" sz="2000"/>
              <a:t>: This is a signed 16-bit integer that represents the memory address relative to the base register (rs).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rs</a:t>
            </a:r>
            <a:r>
              <a:rPr lang="en-US" sz="2000"/>
              <a:t>: specifies the </a:t>
            </a:r>
            <a:r>
              <a:rPr b="1" lang="en-US" sz="2000"/>
              <a:t>base register </a:t>
            </a:r>
            <a:r>
              <a:rPr lang="en-US" sz="2000"/>
              <a:t>that holds the starting memory address. The data will be loaded from address(rs) + offset.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Example: lw Instruction</a:t>
            </a:r>
            <a:endParaRPr/>
          </a:p>
        </p:txBody>
      </p:sp>
      <p:sp>
        <p:nvSpPr>
          <p:cNvPr id="185" name="Google Shape;18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800"/>
              <a:buChar char="•"/>
            </a:pP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Let’s assume that </a:t>
            </a:r>
            <a:r>
              <a:rPr b="0" i="0" lang="en-US" sz="28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is an array of 100 words and that the compiler has associated the variables </a:t>
            </a:r>
            <a:r>
              <a:rPr b="0" i="0" lang="en-US" sz="28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b="0" i="0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and </a:t>
            </a:r>
            <a:r>
              <a:rPr b="0" i="0" lang="en-US" sz="28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b="0" i="0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with the registers </a:t>
            </a:r>
            <a:r>
              <a:rPr b="0" i="0" lang="en-US" sz="28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$s1 and $s2 </a:t>
            </a: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as before.</a:t>
            </a:r>
            <a:b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Let’s also assume that the </a:t>
            </a:r>
            <a:r>
              <a:rPr b="0" i="0" lang="en-US" sz="28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starting address</a:t>
            </a: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, or </a:t>
            </a:r>
            <a:r>
              <a:rPr b="0" i="1" lang="en-US" sz="28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base address</a:t>
            </a:r>
            <a:r>
              <a:rPr b="0" i="1" lang="en-US" sz="2800">
                <a:solidFill>
                  <a:srgbClr val="231F20"/>
                </a:solidFill>
                <a:latin typeface="Oi"/>
                <a:ea typeface="Oi"/>
                <a:cs typeface="Oi"/>
                <a:sym typeface="Oi"/>
              </a:rPr>
              <a:t>, </a:t>
            </a: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of the array is in </a:t>
            </a:r>
            <a:r>
              <a:rPr b="0" i="0" lang="en-US" sz="28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$s3</a:t>
            </a: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1F20"/>
              </a:buClr>
              <a:buSzPts val="2800"/>
              <a:buChar char="•"/>
            </a:pP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Compile this C assignment statement:</a:t>
            </a:r>
            <a:b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0" i="0" lang="en-US" sz="2800">
                <a:solidFill>
                  <a:srgbClr val="231F20"/>
                </a:solidFill>
                <a:latin typeface="EB Garamond"/>
                <a:ea typeface="EB Garamond"/>
                <a:cs typeface="EB Garamond"/>
                <a:sym typeface="EB Garamond"/>
              </a:rPr>
              <a:t>					</a:t>
            </a:r>
            <a:r>
              <a:rPr b="1" i="0" lang="en-US" sz="2400">
                <a:solidFill>
                  <a:srgbClr val="231F20"/>
                </a:solidFill>
                <a:latin typeface="Courier New"/>
                <a:ea typeface="Courier New"/>
                <a:cs typeface="Courier New"/>
                <a:sym typeface="Courier New"/>
              </a:rPr>
              <a:t>g = h + A[8];</a:t>
            </a: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lang="en-US"/>
            </a:b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Example: lw Instruction (Contd.)</a:t>
            </a:r>
            <a:endParaRPr/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One of the operands is in memory which is A[8]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must first transfer A[8] to a register because add instruction works on two registers </a:t>
            </a:r>
            <a:r>
              <a:rPr b="1" i="1" lang="en-US" sz="2400">
                <a:latin typeface="Courier New"/>
                <a:ea typeface="Courier New"/>
                <a:cs typeface="Courier New"/>
                <a:sym typeface="Courier New"/>
              </a:rPr>
              <a:t>add dest, src1, src2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lw $t0,8($s3)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 # Temporary reg $t0 gets A[8]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What is destination register?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rt</a:t>
            </a:r>
            <a:r>
              <a:rPr lang="en-US" sz="2400"/>
              <a:t>: the </a:t>
            </a:r>
            <a:r>
              <a:rPr b="1" lang="en-US" sz="2400"/>
              <a:t>destination register is </a:t>
            </a: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$t0,8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What is offset?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What is base register?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rs</a:t>
            </a:r>
            <a:r>
              <a:rPr lang="en-US" sz="2400"/>
              <a:t>: specifies the </a:t>
            </a:r>
            <a:r>
              <a:rPr b="1" lang="en-US" sz="2400"/>
              <a:t>base register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$s3, represents Array 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ADD can operate on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$t0 </a:t>
            </a:r>
            <a:r>
              <a:rPr lang="en-US"/>
              <a:t>(which equals A[8]) and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$S2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 $s1,$s2,$t0 	# g = h + A[8]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store the sum in the register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$s1</a:t>
            </a:r>
            <a:endParaRPr/>
          </a:p>
          <a:p>
            <a:pPr indent="-99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</a:t>
            </a:r>
            <a:endParaRPr/>
          </a:p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arrays and structures, which address is stored in register?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Starting address of the arrays and structures into the register using the data transfer instructions.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is meant by word in computer architecture?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word is a larger unit of data storage, typically consisting of 4 bytes (32 bits) in many architectures, including MIPS.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is byte addressable memory?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CPU can access and manipulate individual bytes of data in memory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is word addressable memory?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CPU can access and manipulate individual words in memory as show in Figure 2.3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the CPU access individual bytes if its word addressable memory?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 word address is specified (e.g., the starting address of a word), that address actually corresponds to the memory location of one of the 4 bytes within that word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because the byte-addressable memory allows you to access any of those 4 bytes individually using slight variations of the word address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</a:t>
            </a:r>
            <a:endParaRPr/>
          </a:p>
        </p:txBody>
      </p:sp>
      <p:sp>
        <p:nvSpPr>
          <p:cNvPr id="203" name="Google Shape;20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endianness in computer architecture?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order in which bytes are arranged to form a multi-byte data type (like a word) in memory. There are two main conventions: Big-Endian and Litter Endian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Big-Endian?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most significant byte (MSB) of the data is stored at the lowest memory address. MIPS architecture is indeed big-endian.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Little-Endian?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least significant byte (LSB) of the data is stored at the lowest memory address.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ckets in C: Little and Big Endian Machines | by Kyra Krishna | mycsdegree  | Medium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68613"/>
            <a:ext cx="12192002" cy="438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Memory Operand: Store Word</a:t>
            </a:r>
            <a:endParaRPr/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is a store word instruction: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instruction to copies data from a register to memory is called store word instruction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Its denoted by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sw</a:t>
            </a:r>
            <a:r>
              <a:rPr lang="en-US"/>
              <a:t>, and is used to store a word (4 bytes) of data from a register into memory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sw rt, offset(rs)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rt</a:t>
            </a:r>
            <a:r>
              <a:rPr lang="en-US"/>
              <a:t>: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specifies the </a:t>
            </a:r>
            <a:r>
              <a:rPr b="1" lang="en-US"/>
              <a:t>source register </a:t>
            </a:r>
            <a:r>
              <a:rPr lang="en-US"/>
              <a:t>that holds the word (4 bytes) of data to be stored.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rt can be any of the general-purpose registers in MIPS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Offset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a </a:t>
            </a:r>
            <a:r>
              <a:rPr b="1" lang="en-US"/>
              <a:t>signed 16-bit integer </a:t>
            </a:r>
            <a:r>
              <a:rPr lang="en-US"/>
              <a:t>that represents the memory address relative to the base register (rs)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specifies the </a:t>
            </a:r>
            <a:r>
              <a:rPr b="1" lang="en-US"/>
              <a:t>base register </a:t>
            </a:r>
            <a:r>
              <a:rPr lang="en-US"/>
              <a:t>that holds the starting memory address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data will be stored at address(rs) + offset.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Example: Store Word Instruction</a:t>
            </a:r>
            <a:endParaRPr/>
          </a:p>
        </p:txBody>
      </p:sp>
      <p:sp>
        <p:nvSpPr>
          <p:cNvPr id="220" name="Google Shape;220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Assume variable </a:t>
            </a: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en-US"/>
              <a:t> is associated with register </a:t>
            </a: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$s2 </a:t>
            </a:r>
            <a:r>
              <a:rPr lang="en-US"/>
              <a:t>and the base address of the array </a:t>
            </a: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/>
              <a:t> is in </a:t>
            </a: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$s3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the MIPS assembly code for the C assignment statement below?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i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A[12] = h + A[8];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First load data from A[12] into $t0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i="1" lang="en-US" sz="2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lw $t0,32($s3) # Temporary reg $t0 gets A[8]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Difference: This time we use the proper oﬀset for byte addressing in the load word instruction to select A[8]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Seconldy, add h and $t0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33333"/>
              <a:buNone/>
            </a:pPr>
            <a:r>
              <a:rPr b="1" i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 $t0,$s2,$t0 # Temporary reg $t0 gets h + A[8]</a:t>
            </a:r>
            <a:endParaRPr sz="21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Third, stores the sum into A[12], using 48 (4 *12) as the oﬀset and register $s3 as the base register.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i="1" lang="en-US" sz="2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sw $t0,48($s3) # Stores h + A[8] back into A[12]</a:t>
            </a:r>
            <a:endParaRPr/>
          </a:p>
        </p:txBody>
      </p:sp>
      <p:sp>
        <p:nvSpPr>
          <p:cNvPr id="226" name="Google Shape;22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Example: Store Word Instruction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Signed and Unsigned Numbers 	</a:t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Digital systems can handle both positive and negative numbers.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int, unsigned int, uint8_t, uint16_t, uint32_t, uint64_t, int8_t, int16_t, int32_t, and int64_t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signed binary number consists of both sign and magnitude information.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Sign indicates whether a number is positive or negative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Magnitude is the value of the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many ways to represent Signed integer (whole) numbers?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Sign-magnitude, 1’s complement, and 2’s complement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Sign and Magnitude Form</a:t>
            </a:r>
            <a:endParaRPr/>
          </a:p>
        </p:txBody>
      </p:sp>
      <p:sp>
        <p:nvSpPr>
          <p:cNvPr id="238" name="Google Shape;238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and Where is Sign Bit?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left-most bit in a signed binary number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tells you whether the number is positive or negative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0 sign bit indicates a positive number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1 sign bit indicates a negative number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Sign-Magnitude Form</a:t>
            </a:r>
            <a:endParaRPr/>
          </a:p>
        </p:txBody>
      </p:sp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612" y="1420558"/>
            <a:ext cx="9248775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Signed and Unsigned Numbers 	</a:t>
            </a:r>
            <a:endParaRPr/>
          </a:p>
        </p:txBody>
      </p:sp>
      <p:sp>
        <p:nvSpPr>
          <p:cNvPr id="251" name="Google Shape;25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were the shortcomings of sign and magnitude representation?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It was not obvious where to put the sign bit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Adders for sign and magnitude may need an extra step to set the sign because we can’t know in advance what the proper sign will be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A separate sign bit means that sign and magnitude has both a positive and a negative zero, which can lead to problems for inattentive programmers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a result of these shortcomings, sign and magnitude representation was soon abandoned.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1’s Complement Form</a:t>
            </a:r>
            <a:endParaRPr/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represent singed number in 1’s Complement?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Positive numbers are represented the same way as the positive sign-magnitude numbers.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Negative numbers are the 1’s complements of the corresponding positive numbers.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will be 1’s complement of +25 (00011001)?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-25 is expressed as the 1’s complement of as 11100110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the 1’s complement form, a negative number is the 1’s complement of the corresponding positive number.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Short Coming of 1’s Complement</a:t>
            </a:r>
            <a:endParaRPr/>
          </a:p>
        </p:txBody>
      </p:sp>
      <p:sp>
        <p:nvSpPr>
          <p:cNvPr id="263" name="Google Shape;263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shortcomings of 1's complement representation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Negation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In 1's complement, negating a positive number is straightforward - you invert all the bits.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However, negating the minimum negative value (usually represented as all 1's) is problematic.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Inverting all 1's results in all 0's, which is considered zero in most systems. This creates an ambiguity in representing the most negative number.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Addition and Subtraction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Adding or subtracting positive numbers using 1's complement involves a straightforward addition process.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However, handling signed numbers becomes complex.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1's complement requires an additional step to handle overflow (carry beyond the most significant bit).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This can complicate arithmetic operations and make them error-prone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Comparison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Comparing signed numbers in 1's complement is not as intuitive as with 2's complement.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It requires special handling for negative numbers, making code more complex.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Sign Extension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When performing arithmetic operations on numbers with different sign extensions (positive or negative), 1's complement requires additional logic to extend the sign bit to all higher-order bits.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This adds complexity to the hardware design.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2’s Complement Form</a:t>
            </a:r>
            <a:endParaRPr/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represent singed number in 2’s Complement?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Positive numbers are represented same way as in the sign magnitude and 1’s complement forms.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Negative numbers are the 2’s complements of the corresponding positive numbers.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2’s complement of +25 (00011001)?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-25 is by inverting each bit and adding 1, you get -25 = 11100111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6" name="Google Shape;2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325" y="628650"/>
            <a:ext cx="9277350" cy="56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Advantages of 2's Complement:</a:t>
            </a:r>
            <a:endParaRPr/>
          </a:p>
        </p:txBody>
      </p:sp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Simple Negation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Negating a number is achieved by inverting all the bits and adding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eliminates the ambiguity of negating the minimum negative value and simplifies the process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Unified Arithmetic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Both addition and subtraction of signed numbers can be performed using the same addition operation in 2's complement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Overflow detection is straightforward, making arithmetic logic simpler and more efficient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Intuitive Comparison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Comparing signed numbers in 2's complement is easier because the sign bit directly indicates the number's positivity or negativity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Sign Extension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Sign extension in 2's complement involves simply copying the sign bit to all higher-order bits, simplifying hardware design.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Signed and Unsigned Numbers 	</a:t>
            </a:r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2675" y="1443037"/>
            <a:ext cx="748665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96" name="Google Shape;29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377" y="603536"/>
            <a:ext cx="10429960" cy="4937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02" name="Google Shape;302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03" name="Google Shape;3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518" y="576001"/>
            <a:ext cx="6080570" cy="570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0" name="Google Shape;3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967" y="1027906"/>
            <a:ext cx="8884372" cy="4212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16" name="Google Shape;316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7" name="Google Shape;3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900" y="1714500"/>
            <a:ext cx="69342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2024-02-28T10:48:56Z</dcterms:created>
  <dc:creator>Farhan Ammar Ahmad</dc:creator>
</cp:coreProperties>
</file>