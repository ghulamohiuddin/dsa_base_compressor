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9" r:id="rId5"/>
    <p:sldId id="280" r:id="rId6"/>
    <p:sldId id="281" r:id="rId7"/>
    <p:sldId id="282" r:id="rId8"/>
    <p:sldId id="283" r:id="rId9"/>
    <p:sldId id="284" r:id="rId10"/>
    <p:sldId id="285"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snapToGrid="0">
      <p:cViewPr varScale="1">
        <p:scale>
          <a:sx n="105" d="100"/>
          <a:sy n="105" d="100"/>
        </p:scale>
        <p:origin x="120"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67A88-0670-2E26-DF38-FE09851340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24053C-620F-F353-938A-A7FE0CA5F3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0E0C5E8-5D2F-61B3-8E9B-D515DF597D57}"/>
              </a:ext>
            </a:extLst>
          </p:cNvPr>
          <p:cNvSpPr>
            <a:spLocks noGrp="1"/>
          </p:cNvSpPr>
          <p:nvPr>
            <p:ph type="dt" sz="half" idx="10"/>
          </p:nvPr>
        </p:nvSpPr>
        <p:spPr/>
        <p:txBody>
          <a:bodyPr/>
          <a:lstStyle/>
          <a:p>
            <a:fld id="{7658617C-7BDE-48A3-8093-B4A35B4A5C5C}" type="datetimeFigureOut">
              <a:rPr lang="en-US" smtClean="0"/>
              <a:t>3/7/2024</a:t>
            </a:fld>
            <a:endParaRPr lang="en-US"/>
          </a:p>
        </p:txBody>
      </p:sp>
      <p:sp>
        <p:nvSpPr>
          <p:cNvPr id="5" name="Footer Placeholder 4">
            <a:extLst>
              <a:ext uri="{FF2B5EF4-FFF2-40B4-BE49-F238E27FC236}">
                <a16:creationId xmlns:a16="http://schemas.microsoft.com/office/drawing/2014/main" id="{2C879BC4-070A-DFD2-28D9-67B3565D4D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6CF34F-C652-2AB7-D559-77F8D9D707D3}"/>
              </a:ext>
            </a:extLst>
          </p:cNvPr>
          <p:cNvSpPr>
            <a:spLocks noGrp="1"/>
          </p:cNvSpPr>
          <p:nvPr>
            <p:ph type="sldNum" sz="quarter" idx="12"/>
          </p:nvPr>
        </p:nvSpPr>
        <p:spPr/>
        <p:txBody>
          <a:bodyPr/>
          <a:lstStyle/>
          <a:p>
            <a:fld id="{5BBB84EE-479D-4A2A-A341-DA80329C0693}" type="slidenum">
              <a:rPr lang="en-US" smtClean="0"/>
              <a:t>‹#›</a:t>
            </a:fld>
            <a:endParaRPr lang="en-US"/>
          </a:p>
        </p:txBody>
      </p:sp>
    </p:spTree>
    <p:extLst>
      <p:ext uri="{BB962C8B-B14F-4D97-AF65-F5344CB8AC3E}">
        <p14:creationId xmlns:p14="http://schemas.microsoft.com/office/powerpoint/2010/main" val="2271160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EA160-210B-D0F2-B7F2-F243281C88C6}"/>
              </a:ext>
            </a:extLst>
          </p:cNvPr>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254A928C-D360-1F82-E466-8E4788BB03E1}"/>
              </a:ext>
            </a:extLst>
          </p:cNvPr>
          <p:cNvSpPr>
            <a:spLocks noGrp="1"/>
          </p:cNvSpPr>
          <p:nvPr>
            <p:ph idx="1"/>
          </p:nvPr>
        </p:nvSpPr>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E8A088-3C7B-7865-C97D-39DC0E15A15C}"/>
              </a:ext>
            </a:extLst>
          </p:cNvPr>
          <p:cNvSpPr>
            <a:spLocks noGrp="1"/>
          </p:cNvSpPr>
          <p:nvPr>
            <p:ph type="dt" sz="half" idx="10"/>
          </p:nvPr>
        </p:nvSpPr>
        <p:spPr/>
        <p:txBody>
          <a:bodyPr/>
          <a:lstStyle/>
          <a:p>
            <a:fld id="{7658617C-7BDE-48A3-8093-B4A35B4A5C5C}" type="datetimeFigureOut">
              <a:rPr lang="en-US" smtClean="0"/>
              <a:t>3/7/2024</a:t>
            </a:fld>
            <a:endParaRPr lang="en-US"/>
          </a:p>
        </p:txBody>
      </p:sp>
      <p:sp>
        <p:nvSpPr>
          <p:cNvPr id="5" name="Footer Placeholder 4">
            <a:extLst>
              <a:ext uri="{FF2B5EF4-FFF2-40B4-BE49-F238E27FC236}">
                <a16:creationId xmlns:a16="http://schemas.microsoft.com/office/drawing/2014/main" id="{737FF9AD-DA80-1E8E-5BED-5C1581DC37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807D0A-A74A-4B78-1AFF-A2B3EA4488BC}"/>
              </a:ext>
            </a:extLst>
          </p:cNvPr>
          <p:cNvSpPr>
            <a:spLocks noGrp="1"/>
          </p:cNvSpPr>
          <p:nvPr>
            <p:ph type="sldNum" sz="quarter" idx="12"/>
          </p:nvPr>
        </p:nvSpPr>
        <p:spPr/>
        <p:txBody>
          <a:bodyPr/>
          <a:lstStyle/>
          <a:p>
            <a:fld id="{5BBB84EE-479D-4A2A-A341-DA80329C0693}" type="slidenum">
              <a:rPr lang="en-US" smtClean="0"/>
              <a:t>‹#›</a:t>
            </a:fld>
            <a:endParaRPr lang="en-US"/>
          </a:p>
        </p:txBody>
      </p:sp>
    </p:spTree>
    <p:extLst>
      <p:ext uri="{BB962C8B-B14F-4D97-AF65-F5344CB8AC3E}">
        <p14:creationId xmlns:p14="http://schemas.microsoft.com/office/powerpoint/2010/main" val="3413280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8793F-8B99-DD86-674B-1B36B98977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2095AE4-6E4A-4C1C-DC63-4C79F4A9DD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F4971-AAF0-F898-DAF8-627181EC2661}"/>
              </a:ext>
            </a:extLst>
          </p:cNvPr>
          <p:cNvSpPr>
            <a:spLocks noGrp="1"/>
          </p:cNvSpPr>
          <p:nvPr>
            <p:ph type="dt" sz="half" idx="10"/>
          </p:nvPr>
        </p:nvSpPr>
        <p:spPr/>
        <p:txBody>
          <a:bodyPr/>
          <a:lstStyle/>
          <a:p>
            <a:fld id="{7658617C-7BDE-48A3-8093-B4A35B4A5C5C}" type="datetimeFigureOut">
              <a:rPr lang="en-US" smtClean="0"/>
              <a:t>3/7/2024</a:t>
            </a:fld>
            <a:endParaRPr lang="en-US"/>
          </a:p>
        </p:txBody>
      </p:sp>
      <p:sp>
        <p:nvSpPr>
          <p:cNvPr id="5" name="Footer Placeholder 4">
            <a:extLst>
              <a:ext uri="{FF2B5EF4-FFF2-40B4-BE49-F238E27FC236}">
                <a16:creationId xmlns:a16="http://schemas.microsoft.com/office/drawing/2014/main" id="{EE0613C6-9C03-8FF2-D25F-794495F65A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70499C-3958-16A4-FD12-2695A5A63DC7}"/>
              </a:ext>
            </a:extLst>
          </p:cNvPr>
          <p:cNvSpPr>
            <a:spLocks noGrp="1"/>
          </p:cNvSpPr>
          <p:nvPr>
            <p:ph type="sldNum" sz="quarter" idx="12"/>
          </p:nvPr>
        </p:nvSpPr>
        <p:spPr/>
        <p:txBody>
          <a:bodyPr/>
          <a:lstStyle/>
          <a:p>
            <a:fld id="{5BBB84EE-479D-4A2A-A341-DA80329C0693}" type="slidenum">
              <a:rPr lang="en-US" smtClean="0"/>
              <a:t>‹#›</a:t>
            </a:fld>
            <a:endParaRPr lang="en-US"/>
          </a:p>
        </p:txBody>
      </p:sp>
    </p:spTree>
    <p:extLst>
      <p:ext uri="{BB962C8B-B14F-4D97-AF65-F5344CB8AC3E}">
        <p14:creationId xmlns:p14="http://schemas.microsoft.com/office/powerpoint/2010/main" val="2861081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58EE3-9DC3-0DC6-3E1D-BED0AF9733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24029F-274F-20C9-7368-80A6D2B5B9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02C281-AFC6-37EB-BAC9-7D05C92129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38C6FA-5050-0B77-C2BF-F3B4C37922A5}"/>
              </a:ext>
            </a:extLst>
          </p:cNvPr>
          <p:cNvSpPr>
            <a:spLocks noGrp="1"/>
          </p:cNvSpPr>
          <p:nvPr>
            <p:ph type="dt" sz="half" idx="10"/>
          </p:nvPr>
        </p:nvSpPr>
        <p:spPr/>
        <p:txBody>
          <a:bodyPr/>
          <a:lstStyle/>
          <a:p>
            <a:fld id="{7658617C-7BDE-48A3-8093-B4A35B4A5C5C}" type="datetimeFigureOut">
              <a:rPr lang="en-US" smtClean="0"/>
              <a:t>3/7/2024</a:t>
            </a:fld>
            <a:endParaRPr lang="en-US"/>
          </a:p>
        </p:txBody>
      </p:sp>
      <p:sp>
        <p:nvSpPr>
          <p:cNvPr id="6" name="Footer Placeholder 5">
            <a:extLst>
              <a:ext uri="{FF2B5EF4-FFF2-40B4-BE49-F238E27FC236}">
                <a16:creationId xmlns:a16="http://schemas.microsoft.com/office/drawing/2014/main" id="{3B071845-7B3E-66D6-1543-C3EDC2977D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0868C3-2EE1-6F49-56CE-3E2A456E2A1B}"/>
              </a:ext>
            </a:extLst>
          </p:cNvPr>
          <p:cNvSpPr>
            <a:spLocks noGrp="1"/>
          </p:cNvSpPr>
          <p:nvPr>
            <p:ph type="sldNum" sz="quarter" idx="12"/>
          </p:nvPr>
        </p:nvSpPr>
        <p:spPr/>
        <p:txBody>
          <a:bodyPr/>
          <a:lstStyle/>
          <a:p>
            <a:fld id="{5BBB84EE-479D-4A2A-A341-DA80329C0693}" type="slidenum">
              <a:rPr lang="en-US" smtClean="0"/>
              <a:t>‹#›</a:t>
            </a:fld>
            <a:endParaRPr lang="en-US"/>
          </a:p>
        </p:txBody>
      </p:sp>
    </p:spTree>
    <p:extLst>
      <p:ext uri="{BB962C8B-B14F-4D97-AF65-F5344CB8AC3E}">
        <p14:creationId xmlns:p14="http://schemas.microsoft.com/office/powerpoint/2010/main" val="4005535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B863B-FC1D-CF91-BC37-6435F54A416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2756F3-F008-825F-CF47-E89259AD48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6EE405-32A7-715A-ADEC-854FD7DD83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7F4FC0-7B1C-3AAE-5CE8-C649B630FE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5D52A9-201E-6461-E0FA-9B84E77DF1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A60AB10-B626-E8BD-F7B8-EC4CBEEDEE91}"/>
              </a:ext>
            </a:extLst>
          </p:cNvPr>
          <p:cNvSpPr>
            <a:spLocks noGrp="1"/>
          </p:cNvSpPr>
          <p:nvPr>
            <p:ph type="dt" sz="half" idx="10"/>
          </p:nvPr>
        </p:nvSpPr>
        <p:spPr/>
        <p:txBody>
          <a:bodyPr/>
          <a:lstStyle/>
          <a:p>
            <a:fld id="{7658617C-7BDE-48A3-8093-B4A35B4A5C5C}" type="datetimeFigureOut">
              <a:rPr lang="en-US" smtClean="0"/>
              <a:t>3/7/2024</a:t>
            </a:fld>
            <a:endParaRPr lang="en-US"/>
          </a:p>
        </p:txBody>
      </p:sp>
      <p:sp>
        <p:nvSpPr>
          <p:cNvPr id="8" name="Footer Placeholder 7">
            <a:extLst>
              <a:ext uri="{FF2B5EF4-FFF2-40B4-BE49-F238E27FC236}">
                <a16:creationId xmlns:a16="http://schemas.microsoft.com/office/drawing/2014/main" id="{EF436E19-1A84-7BB5-F0FE-F02E5763A2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B736B2F-1BF3-5BB5-06AD-FE64A7CF6C93}"/>
              </a:ext>
            </a:extLst>
          </p:cNvPr>
          <p:cNvSpPr>
            <a:spLocks noGrp="1"/>
          </p:cNvSpPr>
          <p:nvPr>
            <p:ph type="sldNum" sz="quarter" idx="12"/>
          </p:nvPr>
        </p:nvSpPr>
        <p:spPr/>
        <p:txBody>
          <a:bodyPr/>
          <a:lstStyle/>
          <a:p>
            <a:fld id="{5BBB84EE-479D-4A2A-A341-DA80329C0693}" type="slidenum">
              <a:rPr lang="en-US" smtClean="0"/>
              <a:t>‹#›</a:t>
            </a:fld>
            <a:endParaRPr lang="en-US"/>
          </a:p>
        </p:txBody>
      </p:sp>
    </p:spTree>
    <p:extLst>
      <p:ext uri="{BB962C8B-B14F-4D97-AF65-F5344CB8AC3E}">
        <p14:creationId xmlns:p14="http://schemas.microsoft.com/office/powerpoint/2010/main" val="1923295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2EF22-1DBB-C75A-8179-C833F1CC5F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C2C012-9E7D-8445-D425-4461B8FD5DE4}"/>
              </a:ext>
            </a:extLst>
          </p:cNvPr>
          <p:cNvSpPr>
            <a:spLocks noGrp="1"/>
          </p:cNvSpPr>
          <p:nvPr>
            <p:ph type="dt" sz="half" idx="10"/>
          </p:nvPr>
        </p:nvSpPr>
        <p:spPr/>
        <p:txBody>
          <a:bodyPr/>
          <a:lstStyle/>
          <a:p>
            <a:fld id="{7658617C-7BDE-48A3-8093-B4A35B4A5C5C}" type="datetimeFigureOut">
              <a:rPr lang="en-US" smtClean="0"/>
              <a:t>3/7/2024</a:t>
            </a:fld>
            <a:endParaRPr lang="en-US"/>
          </a:p>
        </p:txBody>
      </p:sp>
      <p:sp>
        <p:nvSpPr>
          <p:cNvPr id="4" name="Footer Placeholder 3">
            <a:extLst>
              <a:ext uri="{FF2B5EF4-FFF2-40B4-BE49-F238E27FC236}">
                <a16:creationId xmlns:a16="http://schemas.microsoft.com/office/drawing/2014/main" id="{1EF5535C-C7C3-A5BD-8B3A-192248FF6D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6B0391-1CB9-8DDD-D085-2F7B7C0A3793}"/>
              </a:ext>
            </a:extLst>
          </p:cNvPr>
          <p:cNvSpPr>
            <a:spLocks noGrp="1"/>
          </p:cNvSpPr>
          <p:nvPr>
            <p:ph type="sldNum" sz="quarter" idx="12"/>
          </p:nvPr>
        </p:nvSpPr>
        <p:spPr/>
        <p:txBody>
          <a:bodyPr/>
          <a:lstStyle/>
          <a:p>
            <a:fld id="{5BBB84EE-479D-4A2A-A341-DA80329C0693}" type="slidenum">
              <a:rPr lang="en-US" smtClean="0"/>
              <a:t>‹#›</a:t>
            </a:fld>
            <a:endParaRPr lang="en-US"/>
          </a:p>
        </p:txBody>
      </p:sp>
    </p:spTree>
    <p:extLst>
      <p:ext uri="{BB962C8B-B14F-4D97-AF65-F5344CB8AC3E}">
        <p14:creationId xmlns:p14="http://schemas.microsoft.com/office/powerpoint/2010/main" val="217392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90CA2F-B56C-EB83-C2D6-FAC950707863}"/>
              </a:ext>
            </a:extLst>
          </p:cNvPr>
          <p:cNvSpPr>
            <a:spLocks noGrp="1"/>
          </p:cNvSpPr>
          <p:nvPr>
            <p:ph type="dt" sz="half" idx="10"/>
          </p:nvPr>
        </p:nvSpPr>
        <p:spPr/>
        <p:txBody>
          <a:bodyPr/>
          <a:lstStyle/>
          <a:p>
            <a:fld id="{7658617C-7BDE-48A3-8093-B4A35B4A5C5C}" type="datetimeFigureOut">
              <a:rPr lang="en-US" smtClean="0"/>
              <a:t>3/7/2024</a:t>
            </a:fld>
            <a:endParaRPr lang="en-US"/>
          </a:p>
        </p:txBody>
      </p:sp>
      <p:sp>
        <p:nvSpPr>
          <p:cNvPr id="3" name="Footer Placeholder 2">
            <a:extLst>
              <a:ext uri="{FF2B5EF4-FFF2-40B4-BE49-F238E27FC236}">
                <a16:creationId xmlns:a16="http://schemas.microsoft.com/office/drawing/2014/main" id="{4747FE59-586E-F3C2-9191-E6F9006BA0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E938CE5-325E-F752-4EFB-0D6DEF2266AE}"/>
              </a:ext>
            </a:extLst>
          </p:cNvPr>
          <p:cNvSpPr>
            <a:spLocks noGrp="1"/>
          </p:cNvSpPr>
          <p:nvPr>
            <p:ph type="sldNum" sz="quarter" idx="12"/>
          </p:nvPr>
        </p:nvSpPr>
        <p:spPr/>
        <p:txBody>
          <a:bodyPr/>
          <a:lstStyle/>
          <a:p>
            <a:fld id="{5BBB84EE-479D-4A2A-A341-DA80329C0693}" type="slidenum">
              <a:rPr lang="en-US" smtClean="0"/>
              <a:t>‹#›</a:t>
            </a:fld>
            <a:endParaRPr lang="en-US"/>
          </a:p>
        </p:txBody>
      </p:sp>
    </p:spTree>
    <p:extLst>
      <p:ext uri="{BB962C8B-B14F-4D97-AF65-F5344CB8AC3E}">
        <p14:creationId xmlns:p14="http://schemas.microsoft.com/office/powerpoint/2010/main" val="2248871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E8C13-0661-6924-1C57-3B3DD9B0B1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9550C1-B46A-8766-58F9-1EDE7A5DA6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51539C-0D14-DEC0-370E-1478178B84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A22528-8D02-2B28-6450-5F28781AC0A8}"/>
              </a:ext>
            </a:extLst>
          </p:cNvPr>
          <p:cNvSpPr>
            <a:spLocks noGrp="1"/>
          </p:cNvSpPr>
          <p:nvPr>
            <p:ph type="dt" sz="half" idx="10"/>
          </p:nvPr>
        </p:nvSpPr>
        <p:spPr/>
        <p:txBody>
          <a:bodyPr/>
          <a:lstStyle/>
          <a:p>
            <a:fld id="{7658617C-7BDE-48A3-8093-B4A35B4A5C5C}" type="datetimeFigureOut">
              <a:rPr lang="en-US" smtClean="0"/>
              <a:t>3/7/2024</a:t>
            </a:fld>
            <a:endParaRPr lang="en-US"/>
          </a:p>
        </p:txBody>
      </p:sp>
      <p:sp>
        <p:nvSpPr>
          <p:cNvPr id="6" name="Footer Placeholder 5">
            <a:extLst>
              <a:ext uri="{FF2B5EF4-FFF2-40B4-BE49-F238E27FC236}">
                <a16:creationId xmlns:a16="http://schemas.microsoft.com/office/drawing/2014/main" id="{ACFCB80F-42A1-9CB3-4BCA-20CE0EED87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5DCB7C-5BF8-8616-4F9C-7451D6EC5A28}"/>
              </a:ext>
            </a:extLst>
          </p:cNvPr>
          <p:cNvSpPr>
            <a:spLocks noGrp="1"/>
          </p:cNvSpPr>
          <p:nvPr>
            <p:ph type="sldNum" sz="quarter" idx="12"/>
          </p:nvPr>
        </p:nvSpPr>
        <p:spPr/>
        <p:txBody>
          <a:bodyPr/>
          <a:lstStyle/>
          <a:p>
            <a:fld id="{5BBB84EE-479D-4A2A-A341-DA80329C0693}" type="slidenum">
              <a:rPr lang="en-US" smtClean="0"/>
              <a:t>‹#›</a:t>
            </a:fld>
            <a:endParaRPr lang="en-US"/>
          </a:p>
        </p:txBody>
      </p:sp>
    </p:spTree>
    <p:extLst>
      <p:ext uri="{BB962C8B-B14F-4D97-AF65-F5344CB8AC3E}">
        <p14:creationId xmlns:p14="http://schemas.microsoft.com/office/powerpoint/2010/main" val="375490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5497F-3271-3B02-25F7-2B50536C12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011451-54B7-C784-F52E-0B7C942363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D3ED14-FE53-690E-DD91-2E34C0427E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8B9D00-DD09-CB66-0843-3B9F9F020C4B}"/>
              </a:ext>
            </a:extLst>
          </p:cNvPr>
          <p:cNvSpPr>
            <a:spLocks noGrp="1"/>
          </p:cNvSpPr>
          <p:nvPr>
            <p:ph type="dt" sz="half" idx="10"/>
          </p:nvPr>
        </p:nvSpPr>
        <p:spPr/>
        <p:txBody>
          <a:bodyPr/>
          <a:lstStyle/>
          <a:p>
            <a:fld id="{7658617C-7BDE-48A3-8093-B4A35B4A5C5C}" type="datetimeFigureOut">
              <a:rPr lang="en-US" smtClean="0"/>
              <a:t>3/7/2024</a:t>
            </a:fld>
            <a:endParaRPr lang="en-US"/>
          </a:p>
        </p:txBody>
      </p:sp>
      <p:sp>
        <p:nvSpPr>
          <p:cNvPr id="6" name="Footer Placeholder 5">
            <a:extLst>
              <a:ext uri="{FF2B5EF4-FFF2-40B4-BE49-F238E27FC236}">
                <a16:creationId xmlns:a16="http://schemas.microsoft.com/office/drawing/2014/main" id="{F23E1659-7E45-9197-B0B0-5CC16F347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95638A-955F-8450-5DAA-74F788E4B9C0}"/>
              </a:ext>
            </a:extLst>
          </p:cNvPr>
          <p:cNvSpPr>
            <a:spLocks noGrp="1"/>
          </p:cNvSpPr>
          <p:nvPr>
            <p:ph type="sldNum" sz="quarter" idx="12"/>
          </p:nvPr>
        </p:nvSpPr>
        <p:spPr/>
        <p:txBody>
          <a:bodyPr/>
          <a:lstStyle/>
          <a:p>
            <a:fld id="{5BBB84EE-479D-4A2A-A341-DA80329C0693}" type="slidenum">
              <a:rPr lang="en-US" smtClean="0"/>
              <a:t>‹#›</a:t>
            </a:fld>
            <a:endParaRPr lang="en-US"/>
          </a:p>
        </p:txBody>
      </p:sp>
    </p:spTree>
    <p:extLst>
      <p:ext uri="{BB962C8B-B14F-4D97-AF65-F5344CB8AC3E}">
        <p14:creationId xmlns:p14="http://schemas.microsoft.com/office/powerpoint/2010/main" val="1779541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1A197-2D3A-2F76-0F49-506DC6F437A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3A4EEC8-D6F2-EA55-ADEB-2E4E665EB3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067AFE-6651-E5DA-CAC2-451F9A13DDCC}"/>
              </a:ext>
            </a:extLst>
          </p:cNvPr>
          <p:cNvSpPr>
            <a:spLocks noGrp="1"/>
          </p:cNvSpPr>
          <p:nvPr>
            <p:ph type="dt" sz="half" idx="10"/>
          </p:nvPr>
        </p:nvSpPr>
        <p:spPr/>
        <p:txBody>
          <a:bodyPr/>
          <a:lstStyle/>
          <a:p>
            <a:fld id="{7658617C-7BDE-48A3-8093-B4A35B4A5C5C}" type="datetimeFigureOut">
              <a:rPr lang="en-US" smtClean="0"/>
              <a:t>3/7/2024</a:t>
            </a:fld>
            <a:endParaRPr lang="en-US"/>
          </a:p>
        </p:txBody>
      </p:sp>
      <p:sp>
        <p:nvSpPr>
          <p:cNvPr id="5" name="Footer Placeholder 4">
            <a:extLst>
              <a:ext uri="{FF2B5EF4-FFF2-40B4-BE49-F238E27FC236}">
                <a16:creationId xmlns:a16="http://schemas.microsoft.com/office/drawing/2014/main" id="{AD254B91-2607-0BA4-3F98-84ACB68020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210E1E-C998-35D6-11F9-B980FEC168A7}"/>
              </a:ext>
            </a:extLst>
          </p:cNvPr>
          <p:cNvSpPr>
            <a:spLocks noGrp="1"/>
          </p:cNvSpPr>
          <p:nvPr>
            <p:ph type="sldNum" sz="quarter" idx="12"/>
          </p:nvPr>
        </p:nvSpPr>
        <p:spPr/>
        <p:txBody>
          <a:bodyPr/>
          <a:lstStyle/>
          <a:p>
            <a:fld id="{5BBB84EE-479D-4A2A-A341-DA80329C0693}" type="slidenum">
              <a:rPr lang="en-US" smtClean="0"/>
              <a:t>‹#›</a:t>
            </a:fld>
            <a:endParaRPr lang="en-US"/>
          </a:p>
        </p:txBody>
      </p:sp>
    </p:spTree>
    <p:extLst>
      <p:ext uri="{BB962C8B-B14F-4D97-AF65-F5344CB8AC3E}">
        <p14:creationId xmlns:p14="http://schemas.microsoft.com/office/powerpoint/2010/main" val="3984683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FA8F32-DDD4-E11B-AB4A-014BE84E940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F6CBD0-5B18-50A6-085D-D039A77DF4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3D0A06-8CC9-22A0-9E0D-371EF6283515}"/>
              </a:ext>
            </a:extLst>
          </p:cNvPr>
          <p:cNvSpPr>
            <a:spLocks noGrp="1"/>
          </p:cNvSpPr>
          <p:nvPr>
            <p:ph type="dt" sz="half" idx="10"/>
          </p:nvPr>
        </p:nvSpPr>
        <p:spPr/>
        <p:txBody>
          <a:bodyPr/>
          <a:lstStyle/>
          <a:p>
            <a:fld id="{7658617C-7BDE-48A3-8093-B4A35B4A5C5C}" type="datetimeFigureOut">
              <a:rPr lang="en-US" smtClean="0"/>
              <a:t>3/7/2024</a:t>
            </a:fld>
            <a:endParaRPr lang="en-US"/>
          </a:p>
        </p:txBody>
      </p:sp>
      <p:sp>
        <p:nvSpPr>
          <p:cNvPr id="5" name="Footer Placeholder 4">
            <a:extLst>
              <a:ext uri="{FF2B5EF4-FFF2-40B4-BE49-F238E27FC236}">
                <a16:creationId xmlns:a16="http://schemas.microsoft.com/office/drawing/2014/main" id="{0CD620C1-55F0-B0F9-9C7A-E1FCF3A56A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A8E1F2-5DD1-32E1-65DF-C7C883975F68}"/>
              </a:ext>
            </a:extLst>
          </p:cNvPr>
          <p:cNvSpPr>
            <a:spLocks noGrp="1"/>
          </p:cNvSpPr>
          <p:nvPr>
            <p:ph type="sldNum" sz="quarter" idx="12"/>
          </p:nvPr>
        </p:nvSpPr>
        <p:spPr/>
        <p:txBody>
          <a:bodyPr/>
          <a:lstStyle/>
          <a:p>
            <a:fld id="{5BBB84EE-479D-4A2A-A341-DA80329C0693}" type="slidenum">
              <a:rPr lang="en-US" smtClean="0"/>
              <a:t>‹#›</a:t>
            </a:fld>
            <a:endParaRPr lang="en-US"/>
          </a:p>
        </p:txBody>
      </p:sp>
    </p:spTree>
    <p:extLst>
      <p:ext uri="{BB962C8B-B14F-4D97-AF65-F5344CB8AC3E}">
        <p14:creationId xmlns:p14="http://schemas.microsoft.com/office/powerpoint/2010/main" val="3573877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7A62FF-228E-1781-0757-942B5F2265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DFE7BF-DCF2-D036-EE0E-C96A48E28E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528E0E-291E-6685-0C9C-313C73779B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58617C-7BDE-48A3-8093-B4A35B4A5C5C}" type="datetimeFigureOut">
              <a:rPr lang="en-US" smtClean="0"/>
              <a:t>3/7/2024</a:t>
            </a:fld>
            <a:endParaRPr lang="en-US"/>
          </a:p>
        </p:txBody>
      </p:sp>
      <p:sp>
        <p:nvSpPr>
          <p:cNvPr id="5" name="Footer Placeholder 4">
            <a:extLst>
              <a:ext uri="{FF2B5EF4-FFF2-40B4-BE49-F238E27FC236}">
                <a16:creationId xmlns:a16="http://schemas.microsoft.com/office/drawing/2014/main" id="{5B6531D1-0FAA-FE14-8F53-50BEC4E3BC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C0638F1-BA21-6159-8B08-8BF08B9D7D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BB84EE-479D-4A2A-A341-DA80329C0693}" type="slidenum">
              <a:rPr lang="en-US" smtClean="0"/>
              <a:t>‹#›</a:t>
            </a:fld>
            <a:endParaRPr lang="en-US"/>
          </a:p>
        </p:txBody>
      </p:sp>
    </p:spTree>
    <p:extLst>
      <p:ext uri="{BB962C8B-B14F-4D97-AF65-F5344CB8AC3E}">
        <p14:creationId xmlns:p14="http://schemas.microsoft.com/office/powerpoint/2010/main" val="11928711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5089E-47B5-7367-0855-705E08FA87EC}"/>
              </a:ext>
            </a:extLst>
          </p:cNvPr>
          <p:cNvSpPr>
            <a:spLocks noGrp="1"/>
          </p:cNvSpPr>
          <p:nvPr>
            <p:ph type="ctrTitle"/>
          </p:nvPr>
        </p:nvSpPr>
        <p:spPr/>
        <p:txBody>
          <a:bodyPr>
            <a:normAutofit/>
          </a:bodyPr>
          <a:lstStyle/>
          <a:p>
            <a:r>
              <a:rPr lang="en-US" dirty="0">
                <a:latin typeface="Times New Roman" panose="02020603050405020304" pitchFamily="18" charset="0"/>
                <a:cs typeface="Times New Roman" panose="02020603050405020304" pitchFamily="18" charset="0"/>
              </a:rPr>
              <a:t>Computer Organization and Assembly Language</a:t>
            </a:r>
          </a:p>
        </p:txBody>
      </p:sp>
      <p:sp>
        <p:nvSpPr>
          <p:cNvPr id="3" name="Subtitle 2">
            <a:extLst>
              <a:ext uri="{FF2B5EF4-FFF2-40B4-BE49-F238E27FC236}">
                <a16:creationId xmlns:a16="http://schemas.microsoft.com/office/drawing/2014/main" id="{6FC31BCE-53BA-731A-D387-FBD3200A9A0A}"/>
              </a:ext>
            </a:extLst>
          </p:cNvPr>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Lecture # 01</a:t>
            </a:r>
          </a:p>
        </p:txBody>
      </p:sp>
    </p:spTree>
    <p:extLst>
      <p:ext uri="{BB962C8B-B14F-4D97-AF65-F5344CB8AC3E}">
        <p14:creationId xmlns:p14="http://schemas.microsoft.com/office/powerpoint/2010/main" val="4027674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76CD1-F052-BF5A-4A55-A0A7F09FEDA7}"/>
              </a:ext>
            </a:extLst>
          </p:cNvPr>
          <p:cNvSpPr>
            <a:spLocks noGrp="1"/>
          </p:cNvSpPr>
          <p:nvPr>
            <p:ph type="title"/>
          </p:nvPr>
        </p:nvSpPr>
        <p:spPr/>
        <p:txBody>
          <a:bodyPr/>
          <a:lstStyle/>
          <a:p>
            <a:r>
              <a:rPr lang="en-US" dirty="0"/>
              <a:t>Why study computer organization?</a:t>
            </a:r>
          </a:p>
        </p:txBody>
      </p:sp>
      <p:sp>
        <p:nvSpPr>
          <p:cNvPr id="3" name="Content Placeholder 2">
            <a:extLst>
              <a:ext uri="{FF2B5EF4-FFF2-40B4-BE49-F238E27FC236}">
                <a16:creationId xmlns:a16="http://schemas.microsoft.com/office/drawing/2014/main" id="{F4F1EDF9-0DE2-6BE2-9FC2-45874605AD52}"/>
              </a:ext>
            </a:extLst>
          </p:cNvPr>
          <p:cNvSpPr>
            <a:spLocks noGrp="1"/>
          </p:cNvSpPr>
          <p:nvPr>
            <p:ph idx="1"/>
          </p:nvPr>
        </p:nvSpPr>
        <p:spPr/>
        <p:txBody>
          <a:bodyPr>
            <a:normAutofit fontScale="92500" lnSpcReduction="20000"/>
          </a:bodyPr>
          <a:lstStyle/>
          <a:p>
            <a:r>
              <a:rPr lang="en-US" dirty="0"/>
              <a:t>What are the concern of successful programmers?</a:t>
            </a:r>
          </a:p>
          <a:p>
            <a:pPr lvl="1"/>
            <a:r>
              <a:rPr lang="en-US" dirty="0"/>
              <a:t>Performance of  their programs</a:t>
            </a:r>
          </a:p>
          <a:p>
            <a:r>
              <a:rPr lang="en-US" dirty="0"/>
              <a:t>What was the main constraints in on computer performance in early development decades?</a:t>
            </a:r>
          </a:p>
          <a:p>
            <a:pPr lvl="1"/>
            <a:r>
              <a:rPr lang="en-US" dirty="0"/>
              <a:t>The size of the computer’s memory</a:t>
            </a:r>
          </a:p>
          <a:p>
            <a:r>
              <a:rPr lang="en-US" dirty="0"/>
              <a:t>Advances in computer design and memory have greatly reduced the importance of small memory size</a:t>
            </a:r>
          </a:p>
          <a:p>
            <a:r>
              <a:rPr lang="en-US" dirty="0"/>
              <a:t>Now programmers care about efficiency of their programs.</a:t>
            </a:r>
          </a:p>
          <a:p>
            <a:r>
              <a:rPr lang="en-US" dirty="0"/>
              <a:t>But what they need to know about improving efficiency of the programs?</a:t>
            </a:r>
          </a:p>
          <a:p>
            <a:pPr lvl="1"/>
            <a:r>
              <a:rPr lang="en-US" dirty="0"/>
              <a:t>The understanding of what is below your code</a:t>
            </a:r>
          </a:p>
          <a:p>
            <a:r>
              <a:rPr lang="en-US" dirty="0"/>
              <a:t>What is below the code/program?</a:t>
            </a:r>
          </a:p>
          <a:p>
            <a:pPr lvl="1"/>
            <a:r>
              <a:rPr lang="en-US" dirty="0"/>
              <a:t>The knowledge of computer organization</a:t>
            </a:r>
          </a:p>
        </p:txBody>
      </p:sp>
    </p:spTree>
    <p:extLst>
      <p:ext uri="{BB962C8B-B14F-4D97-AF65-F5344CB8AC3E}">
        <p14:creationId xmlns:p14="http://schemas.microsoft.com/office/powerpoint/2010/main" val="3590187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217EF-D4F1-39E1-2F17-9169DEE88B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4C4DB4-FA47-882E-DC20-C2FE2AED1402}"/>
              </a:ext>
            </a:extLst>
          </p:cNvPr>
          <p:cNvSpPr>
            <a:spLocks noGrp="1"/>
          </p:cNvSpPr>
          <p:nvPr>
            <p:ph type="title"/>
          </p:nvPr>
        </p:nvSpPr>
        <p:spPr/>
        <p:txBody>
          <a:bodyPr/>
          <a:lstStyle/>
          <a:p>
            <a:r>
              <a:rPr lang="en-US" dirty="0"/>
              <a:t>Why study computer organization? (Contd.)</a:t>
            </a:r>
          </a:p>
        </p:txBody>
      </p:sp>
      <p:sp>
        <p:nvSpPr>
          <p:cNvPr id="3" name="Content Placeholder 2">
            <a:extLst>
              <a:ext uri="{FF2B5EF4-FFF2-40B4-BE49-F238E27FC236}">
                <a16:creationId xmlns:a16="http://schemas.microsoft.com/office/drawing/2014/main" id="{D056C3D0-796B-A757-D885-46770B3561EE}"/>
              </a:ext>
            </a:extLst>
          </p:cNvPr>
          <p:cNvSpPr>
            <a:spLocks noGrp="1"/>
          </p:cNvSpPr>
          <p:nvPr>
            <p:ph idx="1"/>
          </p:nvPr>
        </p:nvSpPr>
        <p:spPr/>
        <p:txBody>
          <a:bodyPr>
            <a:normAutofit/>
          </a:bodyPr>
          <a:lstStyle/>
          <a:p>
            <a:r>
              <a:rPr lang="en-US" dirty="0"/>
              <a:t>After this course, you will be able to answer the following questions:</a:t>
            </a:r>
          </a:p>
          <a:p>
            <a:pPr lvl="1"/>
            <a:r>
              <a:rPr lang="en-US" dirty="0"/>
              <a:t>How are programs written in a high-level language translated into machine level?</a:t>
            </a:r>
          </a:p>
          <a:p>
            <a:pPr lvl="1"/>
            <a:r>
              <a:rPr lang="en-US" dirty="0"/>
              <a:t>How does the hardware execute the resulting program? </a:t>
            </a:r>
          </a:p>
          <a:p>
            <a:pPr lvl="1"/>
            <a:r>
              <a:rPr lang="en-US" dirty="0"/>
              <a:t>What is the interface between the soft ware and the hardware?</a:t>
            </a:r>
          </a:p>
          <a:p>
            <a:pPr lvl="1"/>
            <a:r>
              <a:rPr lang="en-US" dirty="0"/>
              <a:t>How does soft ware instruct the hardware to perform needed functions? </a:t>
            </a:r>
          </a:p>
          <a:p>
            <a:pPr lvl="1"/>
            <a:r>
              <a:rPr lang="en-US" dirty="0"/>
              <a:t>What determines the performance of a program?</a:t>
            </a:r>
          </a:p>
          <a:p>
            <a:pPr lvl="1"/>
            <a:r>
              <a:rPr lang="en-US" dirty="0"/>
              <a:t>How can a programmer improve the performance? </a:t>
            </a:r>
          </a:p>
          <a:p>
            <a:pPr lvl="1"/>
            <a:r>
              <a:rPr lang="en-US" dirty="0"/>
              <a:t>What techniques can be used by hardware designers to improve performance and energy efficiency?</a:t>
            </a:r>
          </a:p>
        </p:txBody>
      </p:sp>
    </p:spTree>
    <p:extLst>
      <p:ext uri="{BB962C8B-B14F-4D97-AF65-F5344CB8AC3E}">
        <p14:creationId xmlns:p14="http://schemas.microsoft.com/office/powerpoint/2010/main" val="2065170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768FB-D6AB-D8D0-FCEC-EF493893A12A}"/>
              </a:ext>
            </a:extLst>
          </p:cNvPr>
          <p:cNvSpPr>
            <a:spLocks noGrp="1"/>
          </p:cNvSpPr>
          <p:nvPr>
            <p:ph type="title"/>
          </p:nvPr>
        </p:nvSpPr>
        <p:spPr/>
        <p:txBody>
          <a:bodyPr/>
          <a:lstStyle/>
          <a:p>
            <a:r>
              <a:rPr lang="en-US" dirty="0"/>
              <a:t>Why study computer organization? (Contd.)</a:t>
            </a:r>
          </a:p>
        </p:txBody>
      </p:sp>
      <p:sp>
        <p:nvSpPr>
          <p:cNvPr id="3" name="Content Placeholder 2">
            <a:extLst>
              <a:ext uri="{FF2B5EF4-FFF2-40B4-BE49-F238E27FC236}">
                <a16:creationId xmlns:a16="http://schemas.microsoft.com/office/drawing/2014/main" id="{6813A260-7039-132B-70F8-42434528CCE6}"/>
              </a:ext>
            </a:extLst>
          </p:cNvPr>
          <p:cNvSpPr>
            <a:spLocks noGrp="1"/>
          </p:cNvSpPr>
          <p:nvPr>
            <p:ph idx="1"/>
          </p:nvPr>
        </p:nvSpPr>
        <p:spPr/>
        <p:txBody>
          <a:bodyPr/>
          <a:lstStyle/>
          <a:p>
            <a:r>
              <a:rPr lang="en-US" dirty="0"/>
              <a:t>Let’s take an example:</a:t>
            </a:r>
          </a:p>
          <a:p>
            <a:r>
              <a:rPr lang="en-US" dirty="0"/>
              <a:t>Could the following C program be improved?</a:t>
            </a:r>
          </a:p>
          <a:p>
            <a:pPr marL="0" indent="0">
              <a:buNone/>
            </a:pPr>
            <a:r>
              <a:rPr lang="en-US" dirty="0"/>
              <a:t>	if (</a:t>
            </a:r>
            <a:r>
              <a:rPr lang="en-US" dirty="0" err="1"/>
              <a:t>i</a:t>
            </a:r>
            <a:r>
              <a:rPr lang="en-US" dirty="0"/>
              <a:t> == j)</a:t>
            </a:r>
          </a:p>
          <a:p>
            <a:pPr marL="0" indent="0">
              <a:buNone/>
            </a:pPr>
            <a:r>
              <a:rPr lang="en-US" dirty="0"/>
              <a:t>		 f = g + h; </a:t>
            </a:r>
          </a:p>
          <a:p>
            <a:pPr marL="0" indent="0">
              <a:buNone/>
            </a:pPr>
            <a:r>
              <a:rPr lang="en-US" dirty="0"/>
              <a:t>	else </a:t>
            </a:r>
          </a:p>
          <a:p>
            <a:pPr marL="0" indent="0">
              <a:buNone/>
            </a:pPr>
            <a:r>
              <a:rPr lang="en-US" dirty="0"/>
              <a:t>		f = g – h;</a:t>
            </a:r>
          </a:p>
        </p:txBody>
      </p:sp>
    </p:spTree>
    <p:extLst>
      <p:ext uri="{BB962C8B-B14F-4D97-AF65-F5344CB8AC3E}">
        <p14:creationId xmlns:p14="http://schemas.microsoft.com/office/powerpoint/2010/main" val="2347731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2B6EF-5791-8323-E757-1EE7D02C958A}"/>
              </a:ext>
            </a:extLst>
          </p:cNvPr>
          <p:cNvSpPr>
            <a:spLocks noGrp="1"/>
          </p:cNvSpPr>
          <p:nvPr>
            <p:ph type="title"/>
          </p:nvPr>
        </p:nvSpPr>
        <p:spPr/>
        <p:txBody>
          <a:bodyPr/>
          <a:lstStyle/>
          <a:p>
            <a:r>
              <a:rPr lang="en-US" dirty="0"/>
              <a:t>Why study computer organization? (Contd.)</a:t>
            </a:r>
          </a:p>
        </p:txBody>
      </p:sp>
      <p:sp>
        <p:nvSpPr>
          <p:cNvPr id="3" name="Content Placeholder 2">
            <a:extLst>
              <a:ext uri="{FF2B5EF4-FFF2-40B4-BE49-F238E27FC236}">
                <a16:creationId xmlns:a16="http://schemas.microsoft.com/office/drawing/2014/main" id="{B963F614-E07A-A66C-FAC4-3D201DC7924B}"/>
              </a:ext>
            </a:extLst>
          </p:cNvPr>
          <p:cNvSpPr>
            <a:spLocks noGrp="1"/>
          </p:cNvSpPr>
          <p:nvPr>
            <p:ph idx="1"/>
          </p:nvPr>
        </p:nvSpPr>
        <p:spPr/>
        <p:txBody>
          <a:bodyPr>
            <a:normAutofit/>
          </a:bodyPr>
          <a:lstStyle/>
          <a:p>
            <a:r>
              <a:rPr lang="en-US" dirty="0"/>
              <a:t>Here's the Assembly code for the given C statements:</a:t>
            </a:r>
          </a:p>
          <a:p>
            <a:pPr marL="457200" lvl="1" indent="0">
              <a:buNone/>
            </a:pPr>
            <a:r>
              <a:rPr lang="en-US" sz="1700" dirty="0" err="1">
                <a:latin typeface="Courier New" panose="02070309020205020404" pitchFamily="49" charset="0"/>
                <a:cs typeface="Courier New" panose="02070309020205020404" pitchFamily="49" charset="0"/>
              </a:rPr>
              <a:t>beq</a:t>
            </a:r>
            <a:r>
              <a:rPr lang="en-US" sz="1700" dirty="0">
                <a:latin typeface="Courier New" panose="02070309020205020404" pitchFamily="49" charset="0"/>
                <a:cs typeface="Courier New" panose="02070309020205020404" pitchFamily="49" charset="0"/>
              </a:rPr>
              <a:t> $s3, $s4, Add  # Branch if </a:t>
            </a:r>
            <a:r>
              <a:rPr lang="en-US" sz="1700" dirty="0" err="1">
                <a:latin typeface="Courier New" panose="02070309020205020404" pitchFamily="49" charset="0"/>
                <a:cs typeface="Courier New" panose="02070309020205020404" pitchFamily="49" charset="0"/>
              </a:rPr>
              <a:t>i</a:t>
            </a:r>
            <a:r>
              <a:rPr lang="en-US" sz="1700" dirty="0">
                <a:latin typeface="Courier New" panose="02070309020205020404" pitchFamily="49" charset="0"/>
                <a:cs typeface="Courier New" panose="02070309020205020404" pitchFamily="49" charset="0"/>
              </a:rPr>
              <a:t> == j (registers $s3 and $s4)</a:t>
            </a:r>
          </a:p>
          <a:p>
            <a:pPr marL="457200" lvl="1" indent="0">
              <a:buNone/>
            </a:pPr>
            <a:r>
              <a:rPr lang="en-US" sz="1700" dirty="0">
                <a:latin typeface="Courier New" panose="02070309020205020404" pitchFamily="49" charset="0"/>
                <a:cs typeface="Courier New" panose="02070309020205020404" pitchFamily="49" charset="0"/>
              </a:rPr>
              <a:t>sub $s0, $s1, $s2  # f = g - h (register $s0 for f, $s1 for g, $s2 for h)</a:t>
            </a:r>
          </a:p>
          <a:p>
            <a:pPr marL="457200" lvl="1" indent="0">
              <a:buNone/>
            </a:pPr>
            <a:r>
              <a:rPr lang="en-US" sz="1700" dirty="0">
                <a:latin typeface="Courier New" panose="02070309020205020404" pitchFamily="49" charset="0"/>
                <a:cs typeface="Courier New" panose="02070309020205020404" pitchFamily="49" charset="0"/>
              </a:rPr>
              <a:t>j Exit            # Jump to Exit (optional)</a:t>
            </a:r>
          </a:p>
          <a:p>
            <a:pPr marL="457200" lvl="1" indent="0">
              <a:buNone/>
            </a:pPr>
            <a:endParaRPr lang="en-US" sz="1700" dirty="0">
              <a:latin typeface="Courier New" panose="02070309020205020404" pitchFamily="49" charset="0"/>
              <a:cs typeface="Courier New" panose="02070309020205020404" pitchFamily="49" charset="0"/>
            </a:endParaRPr>
          </a:p>
          <a:p>
            <a:pPr marL="457200" lvl="1" indent="0">
              <a:buNone/>
            </a:pPr>
            <a:r>
              <a:rPr lang="en-US" sz="1700" dirty="0">
                <a:latin typeface="Courier New" panose="02070309020205020404" pitchFamily="49" charset="0"/>
                <a:cs typeface="Courier New" panose="02070309020205020404" pitchFamily="49" charset="0"/>
              </a:rPr>
              <a:t>Add:</a:t>
            </a:r>
          </a:p>
          <a:p>
            <a:pPr marL="457200" lvl="1" indent="0">
              <a:buNone/>
            </a:pPr>
            <a:r>
              <a:rPr lang="en-US" sz="1700" dirty="0">
                <a:latin typeface="Courier New" panose="02070309020205020404" pitchFamily="49" charset="0"/>
                <a:cs typeface="Courier New" panose="02070309020205020404" pitchFamily="49" charset="0"/>
              </a:rPr>
              <a:t>add $s0, $s1, $s2  # f = g + h (register $s0 for f, $s1 for g, $s2 for h)</a:t>
            </a:r>
          </a:p>
          <a:p>
            <a:pPr marL="457200" lvl="1" indent="0">
              <a:buNone/>
            </a:pPr>
            <a:endParaRPr lang="en-US" sz="1700" dirty="0">
              <a:latin typeface="Courier New" panose="02070309020205020404" pitchFamily="49" charset="0"/>
              <a:cs typeface="Courier New" panose="02070309020205020404" pitchFamily="49" charset="0"/>
            </a:endParaRPr>
          </a:p>
          <a:p>
            <a:pPr marL="457200" lvl="1" indent="0">
              <a:buNone/>
            </a:pPr>
            <a:r>
              <a:rPr lang="en-US" sz="1700" dirty="0">
                <a:latin typeface="Courier New" panose="02070309020205020404" pitchFamily="49" charset="0"/>
                <a:cs typeface="Courier New" panose="02070309020205020404" pitchFamily="49" charset="0"/>
              </a:rPr>
              <a:t>Exit:</a:t>
            </a:r>
          </a:p>
        </p:txBody>
      </p:sp>
    </p:spTree>
    <p:extLst>
      <p:ext uri="{BB962C8B-B14F-4D97-AF65-F5344CB8AC3E}">
        <p14:creationId xmlns:p14="http://schemas.microsoft.com/office/powerpoint/2010/main" val="3699401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873B2-BA9D-D867-A99F-C99578F3051D}"/>
              </a:ext>
            </a:extLst>
          </p:cNvPr>
          <p:cNvSpPr>
            <a:spLocks noGrp="1"/>
          </p:cNvSpPr>
          <p:nvPr>
            <p:ph type="title"/>
          </p:nvPr>
        </p:nvSpPr>
        <p:spPr/>
        <p:txBody>
          <a:bodyPr/>
          <a:lstStyle/>
          <a:p>
            <a:r>
              <a:rPr lang="en-US" dirty="0"/>
              <a:t>Why study computer organization? (Contd.)</a:t>
            </a:r>
          </a:p>
        </p:txBody>
      </p:sp>
      <p:sp>
        <p:nvSpPr>
          <p:cNvPr id="3" name="Content Placeholder 2">
            <a:extLst>
              <a:ext uri="{FF2B5EF4-FFF2-40B4-BE49-F238E27FC236}">
                <a16:creationId xmlns:a16="http://schemas.microsoft.com/office/drawing/2014/main" id="{B8B8BBAA-DF20-A894-A0E1-6681905EB0EA}"/>
              </a:ext>
            </a:extLst>
          </p:cNvPr>
          <p:cNvSpPr>
            <a:spLocks noGrp="1"/>
          </p:cNvSpPr>
          <p:nvPr>
            <p:ph idx="1"/>
          </p:nvPr>
        </p:nvSpPr>
        <p:spPr/>
        <p:txBody>
          <a:bodyPr>
            <a:normAutofit/>
          </a:bodyPr>
          <a:lstStyle/>
          <a:p>
            <a:r>
              <a:rPr lang="en-US" dirty="0"/>
              <a:t>Explanation:</a:t>
            </a:r>
          </a:p>
          <a:p>
            <a:endParaRPr lang="en-US" dirty="0"/>
          </a:p>
          <a:p>
            <a:pPr lvl="1"/>
            <a:r>
              <a:rPr lang="en-US" b="1" dirty="0" err="1"/>
              <a:t>beq</a:t>
            </a:r>
            <a:r>
              <a:rPr lang="en-US" b="1" dirty="0"/>
              <a:t> $s3, $s4, Add</a:t>
            </a:r>
            <a:r>
              <a:rPr lang="en-US" dirty="0"/>
              <a:t>: This instruction still checks if </a:t>
            </a:r>
            <a:r>
              <a:rPr lang="en-US" dirty="0" err="1"/>
              <a:t>i</a:t>
            </a:r>
            <a:r>
              <a:rPr lang="en-US" dirty="0"/>
              <a:t> == j are equal.</a:t>
            </a:r>
          </a:p>
          <a:p>
            <a:pPr lvl="1"/>
            <a:r>
              <a:rPr lang="en-US" b="1" dirty="0"/>
              <a:t>sub $s0, $s1, $s2: </a:t>
            </a:r>
            <a:r>
              <a:rPr lang="en-US" dirty="0"/>
              <a:t>This instruction is placed after the </a:t>
            </a:r>
            <a:r>
              <a:rPr lang="en-US" dirty="0" err="1"/>
              <a:t>beq</a:t>
            </a:r>
            <a:r>
              <a:rPr lang="en-US" dirty="0"/>
              <a:t>. If the condition is not met (i.e., </a:t>
            </a:r>
            <a:r>
              <a:rPr lang="en-US" dirty="0" err="1"/>
              <a:t>i</a:t>
            </a:r>
            <a:r>
              <a:rPr lang="en-US" dirty="0"/>
              <a:t> != j), the program continues executing instructions sequentially, and this instruction performs the subtraction for the "not equal" case.</a:t>
            </a:r>
          </a:p>
          <a:p>
            <a:pPr lvl="1"/>
            <a:r>
              <a:rPr lang="en-US" b="1" dirty="0"/>
              <a:t>j Exit (optional): </a:t>
            </a:r>
            <a:r>
              <a:rPr lang="en-US" dirty="0"/>
              <a:t>This instruction remains to unconditionally jump to Exit if the condition in the </a:t>
            </a:r>
            <a:r>
              <a:rPr lang="en-US" dirty="0" err="1"/>
              <a:t>beq</a:t>
            </a:r>
            <a:r>
              <a:rPr lang="en-US" dirty="0"/>
              <a:t> is true (i.e., </a:t>
            </a:r>
            <a:r>
              <a:rPr lang="en-US" dirty="0" err="1"/>
              <a:t>i</a:t>
            </a:r>
            <a:r>
              <a:rPr lang="en-US" dirty="0"/>
              <a:t> and j are equal). This ensures the program skips the sub instruction for the "equal" case.</a:t>
            </a:r>
          </a:p>
          <a:p>
            <a:pPr lvl="1"/>
            <a:r>
              <a:rPr lang="en-US" b="1" dirty="0"/>
              <a:t>Add:: </a:t>
            </a:r>
            <a:r>
              <a:rPr lang="en-US" dirty="0"/>
              <a:t>This label and the following add instruction remain unchanged, handling the "equal" case.</a:t>
            </a:r>
          </a:p>
        </p:txBody>
      </p:sp>
    </p:spTree>
    <p:extLst>
      <p:ext uri="{BB962C8B-B14F-4D97-AF65-F5344CB8AC3E}">
        <p14:creationId xmlns:p14="http://schemas.microsoft.com/office/powerpoint/2010/main" val="62950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0C4B5-412B-134D-DB59-B96B96E9554E}"/>
              </a:ext>
            </a:extLst>
          </p:cNvPr>
          <p:cNvSpPr>
            <a:spLocks noGrp="1"/>
          </p:cNvSpPr>
          <p:nvPr>
            <p:ph type="title"/>
          </p:nvPr>
        </p:nvSpPr>
        <p:spPr/>
        <p:txBody>
          <a:bodyPr/>
          <a:lstStyle/>
          <a:p>
            <a:r>
              <a:rPr lang="en-US" dirty="0"/>
              <a:t>Why study computer organization? (Contd.)</a:t>
            </a:r>
          </a:p>
        </p:txBody>
      </p:sp>
      <p:sp>
        <p:nvSpPr>
          <p:cNvPr id="3" name="Content Placeholder 2">
            <a:extLst>
              <a:ext uri="{FF2B5EF4-FFF2-40B4-BE49-F238E27FC236}">
                <a16:creationId xmlns:a16="http://schemas.microsoft.com/office/drawing/2014/main" id="{EDE255EE-C814-EAF5-1BFF-527E4FBAE7D8}"/>
              </a:ext>
            </a:extLst>
          </p:cNvPr>
          <p:cNvSpPr>
            <a:spLocks noGrp="1"/>
          </p:cNvSpPr>
          <p:nvPr>
            <p:ph idx="1"/>
          </p:nvPr>
        </p:nvSpPr>
        <p:spPr/>
        <p:txBody>
          <a:bodyPr>
            <a:normAutofit/>
          </a:bodyPr>
          <a:lstStyle/>
          <a:p>
            <a:r>
              <a:rPr lang="en-US" dirty="0"/>
              <a:t>The Assembly code for the same C program but using </a:t>
            </a:r>
            <a:r>
              <a:rPr lang="en-US" dirty="0" err="1"/>
              <a:t>bne</a:t>
            </a:r>
            <a:r>
              <a:rPr lang="en-US" dirty="0"/>
              <a:t> statement:</a:t>
            </a:r>
          </a:p>
          <a:p>
            <a:pPr marL="457200" lvl="1" indent="0">
              <a:buNone/>
            </a:pPr>
            <a:r>
              <a:rPr lang="en-US" sz="1700" dirty="0" err="1">
                <a:latin typeface="Courier New" panose="02070309020205020404" pitchFamily="49" charset="0"/>
                <a:cs typeface="Courier New" panose="02070309020205020404" pitchFamily="49" charset="0"/>
              </a:rPr>
              <a:t>bne</a:t>
            </a:r>
            <a:r>
              <a:rPr lang="en-US" sz="1700" dirty="0">
                <a:latin typeface="Courier New" panose="02070309020205020404" pitchFamily="49" charset="0"/>
                <a:cs typeface="Courier New" panose="02070309020205020404" pitchFamily="49" charset="0"/>
              </a:rPr>
              <a:t> $s3, $s4, Sub  # Branch if </a:t>
            </a:r>
            <a:r>
              <a:rPr lang="en-US" sz="1700" dirty="0" err="1">
                <a:latin typeface="Courier New" panose="02070309020205020404" pitchFamily="49" charset="0"/>
                <a:cs typeface="Courier New" panose="02070309020205020404" pitchFamily="49" charset="0"/>
              </a:rPr>
              <a:t>i</a:t>
            </a:r>
            <a:r>
              <a:rPr lang="en-US" sz="1700" dirty="0">
                <a:latin typeface="Courier New" panose="02070309020205020404" pitchFamily="49" charset="0"/>
                <a:cs typeface="Courier New" panose="02070309020205020404" pitchFamily="49" charset="0"/>
              </a:rPr>
              <a:t> != j (registers $s3 and $s4)</a:t>
            </a:r>
          </a:p>
          <a:p>
            <a:pPr marL="457200" lvl="1" indent="0">
              <a:buNone/>
            </a:pPr>
            <a:r>
              <a:rPr lang="en-US" sz="1700" dirty="0">
                <a:latin typeface="Courier New" panose="02070309020205020404" pitchFamily="49" charset="0"/>
                <a:cs typeface="Courier New" panose="02070309020205020404" pitchFamily="49" charset="0"/>
              </a:rPr>
              <a:t>add $s0, $s1, $s2  # f = g + h (register $s0 for f, $s1 for g, $s2 for h)</a:t>
            </a:r>
          </a:p>
          <a:p>
            <a:pPr marL="457200" lvl="1" indent="0">
              <a:buNone/>
            </a:pPr>
            <a:r>
              <a:rPr lang="en-US" sz="1700" dirty="0">
                <a:latin typeface="Courier New" panose="02070309020205020404" pitchFamily="49" charset="0"/>
                <a:cs typeface="Courier New" panose="02070309020205020404" pitchFamily="49" charset="0"/>
              </a:rPr>
              <a:t>j Exit             # Jump to Exit (optional)</a:t>
            </a:r>
          </a:p>
          <a:p>
            <a:pPr marL="457200" lvl="1" indent="0">
              <a:buNone/>
            </a:pPr>
            <a:endParaRPr lang="en-US" sz="1700" dirty="0">
              <a:latin typeface="Courier New" panose="02070309020205020404" pitchFamily="49" charset="0"/>
              <a:cs typeface="Courier New" panose="02070309020205020404" pitchFamily="49" charset="0"/>
            </a:endParaRPr>
          </a:p>
          <a:p>
            <a:pPr marL="457200" lvl="1" indent="0">
              <a:buNone/>
            </a:pPr>
            <a:r>
              <a:rPr lang="en-US" sz="1700" dirty="0">
                <a:latin typeface="Courier New" panose="02070309020205020404" pitchFamily="49" charset="0"/>
                <a:cs typeface="Courier New" panose="02070309020205020404" pitchFamily="49" charset="0"/>
              </a:rPr>
              <a:t>Sub:</a:t>
            </a:r>
          </a:p>
          <a:p>
            <a:pPr marL="457200" lvl="1" indent="0">
              <a:buNone/>
            </a:pPr>
            <a:r>
              <a:rPr lang="en-US" sz="1700" dirty="0">
                <a:latin typeface="Courier New" panose="02070309020205020404" pitchFamily="49" charset="0"/>
                <a:cs typeface="Courier New" panose="02070309020205020404" pitchFamily="49" charset="0"/>
              </a:rPr>
              <a:t>sub $s0, $s1, $s2  # f = g - h (register $s0 for f, $s1 for g, $s2 for h)</a:t>
            </a:r>
          </a:p>
          <a:p>
            <a:pPr marL="457200" lvl="1" indent="0">
              <a:buNone/>
            </a:pPr>
            <a:endParaRPr lang="en-US" sz="1700" dirty="0">
              <a:latin typeface="Courier New" panose="02070309020205020404" pitchFamily="49" charset="0"/>
              <a:cs typeface="Courier New" panose="02070309020205020404" pitchFamily="49" charset="0"/>
            </a:endParaRPr>
          </a:p>
          <a:p>
            <a:pPr marL="457200" lvl="1" indent="0">
              <a:buNone/>
            </a:pPr>
            <a:r>
              <a:rPr lang="en-US" sz="1700" dirty="0">
                <a:latin typeface="Courier New" panose="02070309020205020404" pitchFamily="49" charset="0"/>
                <a:cs typeface="Courier New" panose="02070309020205020404" pitchFamily="49" charset="0"/>
              </a:rPr>
              <a:t>Exit:</a:t>
            </a:r>
          </a:p>
        </p:txBody>
      </p:sp>
    </p:spTree>
    <p:extLst>
      <p:ext uri="{BB962C8B-B14F-4D97-AF65-F5344CB8AC3E}">
        <p14:creationId xmlns:p14="http://schemas.microsoft.com/office/powerpoint/2010/main" val="3274313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CDEB2-8126-731E-4B87-C01065308230}"/>
              </a:ext>
            </a:extLst>
          </p:cNvPr>
          <p:cNvSpPr>
            <a:spLocks noGrp="1"/>
          </p:cNvSpPr>
          <p:nvPr>
            <p:ph type="title"/>
          </p:nvPr>
        </p:nvSpPr>
        <p:spPr/>
        <p:txBody>
          <a:bodyPr/>
          <a:lstStyle/>
          <a:p>
            <a:r>
              <a:rPr lang="en-US" dirty="0"/>
              <a:t>Why study computer organization? (Contd.)</a:t>
            </a:r>
          </a:p>
        </p:txBody>
      </p:sp>
      <p:sp>
        <p:nvSpPr>
          <p:cNvPr id="3" name="Content Placeholder 2">
            <a:extLst>
              <a:ext uri="{FF2B5EF4-FFF2-40B4-BE49-F238E27FC236}">
                <a16:creationId xmlns:a16="http://schemas.microsoft.com/office/drawing/2014/main" id="{1B1BA3C9-FF23-DF7C-3B51-129D7914A971}"/>
              </a:ext>
            </a:extLst>
          </p:cNvPr>
          <p:cNvSpPr>
            <a:spLocks noGrp="1"/>
          </p:cNvSpPr>
          <p:nvPr>
            <p:ph idx="1"/>
          </p:nvPr>
        </p:nvSpPr>
        <p:spPr/>
        <p:txBody>
          <a:bodyPr>
            <a:normAutofit/>
          </a:bodyPr>
          <a:lstStyle/>
          <a:p>
            <a:r>
              <a:rPr lang="en-US" dirty="0"/>
              <a:t>Determining which code, using </a:t>
            </a:r>
            <a:r>
              <a:rPr lang="en-US" dirty="0" err="1"/>
              <a:t>beq</a:t>
            </a:r>
            <a:r>
              <a:rPr lang="en-US" dirty="0"/>
              <a:t> or </a:t>
            </a:r>
            <a:r>
              <a:rPr lang="en-US" dirty="0" err="1"/>
              <a:t>bne</a:t>
            </a:r>
            <a:r>
              <a:rPr lang="en-US" dirty="0"/>
              <a:t>, is more efficient depends on the expected distribution of values in the registers being compared. Here's a breakdown of the efficiency considerations:</a:t>
            </a:r>
          </a:p>
          <a:p>
            <a:pPr marL="914400" lvl="1" indent="-457200">
              <a:buFont typeface="+mj-lt"/>
              <a:buAutoNum type="arabicPeriod"/>
            </a:pPr>
            <a:r>
              <a:rPr lang="en-US" b="1" dirty="0"/>
              <a:t>Branch Penalty. </a:t>
            </a:r>
            <a:r>
              <a:rPr lang="en-US" dirty="0"/>
              <a:t>A branch penalty refers to the performance overhead incurred when executing a branch instruction. It includes</a:t>
            </a:r>
          </a:p>
          <a:p>
            <a:pPr marL="1428750" lvl="2" indent="-514350">
              <a:buAutoNum type="arabicPeriod"/>
            </a:pPr>
            <a:r>
              <a:rPr lang="en-US" dirty="0"/>
              <a:t>Pipelining</a:t>
            </a:r>
          </a:p>
          <a:p>
            <a:pPr marL="1428750" lvl="2" indent="-514350">
              <a:buAutoNum type="arabicPeriod"/>
            </a:pPr>
            <a:r>
              <a:rPr lang="en-US" dirty="0"/>
              <a:t>Branching and Pipelining:</a:t>
            </a:r>
          </a:p>
          <a:p>
            <a:pPr marL="1428750" lvl="2" indent="-514350">
              <a:buAutoNum type="arabicPeriod"/>
            </a:pPr>
            <a:r>
              <a:rPr lang="en-US" dirty="0"/>
              <a:t>The Penalty:</a:t>
            </a:r>
          </a:p>
          <a:p>
            <a:pPr marL="971550" lvl="1" indent="-514350">
              <a:buAutoNum type="arabicPeriod"/>
            </a:pPr>
            <a:r>
              <a:rPr lang="en-US" b="1" dirty="0"/>
              <a:t>Code Structure</a:t>
            </a:r>
          </a:p>
          <a:p>
            <a:pPr marL="0" indent="0">
              <a:buNone/>
            </a:pPr>
            <a:endParaRPr lang="en-US" dirty="0"/>
          </a:p>
        </p:txBody>
      </p:sp>
    </p:spTree>
    <p:extLst>
      <p:ext uri="{BB962C8B-B14F-4D97-AF65-F5344CB8AC3E}">
        <p14:creationId xmlns:p14="http://schemas.microsoft.com/office/powerpoint/2010/main" val="33126249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14F64-D257-C5BD-3CCE-0AC502A91478}"/>
              </a:ext>
            </a:extLst>
          </p:cNvPr>
          <p:cNvSpPr>
            <a:spLocks noGrp="1"/>
          </p:cNvSpPr>
          <p:nvPr>
            <p:ph type="title"/>
          </p:nvPr>
        </p:nvSpPr>
        <p:spPr/>
        <p:txBody>
          <a:bodyPr/>
          <a:lstStyle/>
          <a:p>
            <a:r>
              <a:rPr lang="en-US" dirty="0"/>
              <a:t>Why study computer organization? (Contd.)</a:t>
            </a:r>
          </a:p>
        </p:txBody>
      </p:sp>
      <p:sp>
        <p:nvSpPr>
          <p:cNvPr id="3" name="Content Placeholder 2">
            <a:extLst>
              <a:ext uri="{FF2B5EF4-FFF2-40B4-BE49-F238E27FC236}">
                <a16:creationId xmlns:a16="http://schemas.microsoft.com/office/drawing/2014/main" id="{E03AEDB5-7477-9416-12B7-075A7991CB37}"/>
              </a:ext>
            </a:extLst>
          </p:cNvPr>
          <p:cNvSpPr>
            <a:spLocks noGrp="1"/>
          </p:cNvSpPr>
          <p:nvPr>
            <p:ph idx="1"/>
          </p:nvPr>
        </p:nvSpPr>
        <p:spPr>
          <a:xfrm>
            <a:off x="838200" y="1825624"/>
            <a:ext cx="10515600" cy="4667251"/>
          </a:xfrm>
        </p:spPr>
        <p:txBody>
          <a:bodyPr>
            <a:normAutofit/>
          </a:bodyPr>
          <a:lstStyle/>
          <a:p>
            <a:r>
              <a:rPr lang="en-US" sz="2000" dirty="0"/>
              <a:t>How it happens?</a:t>
            </a:r>
          </a:p>
          <a:p>
            <a:pPr lvl="1"/>
            <a:r>
              <a:rPr lang="en-US" sz="1800" b="1" dirty="0"/>
              <a:t>Pipelining</a:t>
            </a:r>
            <a:r>
              <a:rPr lang="en-US" sz="1800" dirty="0"/>
              <a:t>:</a:t>
            </a:r>
          </a:p>
          <a:p>
            <a:pPr lvl="2"/>
            <a:r>
              <a:rPr lang="en-US" sz="1600" dirty="0"/>
              <a:t>It divides the execution of instructions into multiple stages like </a:t>
            </a:r>
            <a:r>
              <a:rPr lang="en-US" sz="1600" b="1" dirty="0"/>
              <a:t>fetching, decoding, execution, memory access, and writing results</a:t>
            </a:r>
            <a:r>
              <a:rPr lang="en-US" sz="1600" dirty="0"/>
              <a:t>. </a:t>
            </a:r>
          </a:p>
          <a:p>
            <a:pPr lvl="2"/>
            <a:r>
              <a:rPr lang="en-US" sz="1600" dirty="0"/>
              <a:t>It allows multiple instructions to be processed simultaneously, potentially improving performance.</a:t>
            </a:r>
          </a:p>
          <a:p>
            <a:pPr lvl="1"/>
            <a:r>
              <a:rPr lang="en-US" sz="1800" b="1" dirty="0"/>
              <a:t>Branching and Pipelining</a:t>
            </a:r>
            <a:r>
              <a:rPr lang="en-US" sz="1800" dirty="0"/>
              <a:t>:</a:t>
            </a:r>
          </a:p>
          <a:p>
            <a:pPr lvl="2"/>
            <a:r>
              <a:rPr lang="en-US" sz="1600" dirty="0"/>
              <a:t>When a branch instruction (e.g., if, else statements) is encountered, the processor needs to determine which path (true or false) to take after the branch condition is evaluated. </a:t>
            </a:r>
          </a:p>
          <a:p>
            <a:pPr lvl="2"/>
            <a:r>
              <a:rPr lang="en-US" sz="1600" dirty="0"/>
              <a:t>However, in a pipelined processor, the instructions following the branch might already be fetched and partially processed before the branch condition is determined.</a:t>
            </a:r>
          </a:p>
          <a:p>
            <a:pPr lvl="1"/>
            <a:r>
              <a:rPr lang="en-US" sz="1800" b="1" dirty="0"/>
              <a:t>The Penalty:</a:t>
            </a:r>
          </a:p>
          <a:p>
            <a:pPr lvl="2"/>
            <a:r>
              <a:rPr lang="en-US" sz="1400" dirty="0"/>
              <a:t>If the branch prediction (predicting which path is likely) is incorrect, the fetched instructions become useless, and the processor needs to:</a:t>
            </a:r>
          </a:p>
          <a:p>
            <a:pPr lvl="3"/>
            <a:r>
              <a:rPr lang="en-US" sz="1400" dirty="0"/>
              <a:t>Flush (discard) these instructions.</a:t>
            </a:r>
          </a:p>
          <a:p>
            <a:pPr lvl="3"/>
            <a:r>
              <a:rPr lang="en-US" sz="1400" dirty="0"/>
              <a:t>Fetch and start processing instructions from the correct path.</a:t>
            </a:r>
          </a:p>
          <a:p>
            <a:pPr lvl="3"/>
            <a:r>
              <a:rPr lang="en-US" sz="1400" dirty="0"/>
              <a:t>This flushing and re-fetching process introduces a delay, impacting the overall performance. This delay is the branch penalty.</a:t>
            </a:r>
          </a:p>
        </p:txBody>
      </p:sp>
    </p:spTree>
    <p:extLst>
      <p:ext uri="{BB962C8B-B14F-4D97-AF65-F5344CB8AC3E}">
        <p14:creationId xmlns:p14="http://schemas.microsoft.com/office/powerpoint/2010/main" val="2437839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21452-A370-C33C-E280-326201C2A00D}"/>
              </a:ext>
            </a:extLst>
          </p:cNvPr>
          <p:cNvSpPr>
            <a:spLocks noGrp="1"/>
          </p:cNvSpPr>
          <p:nvPr>
            <p:ph type="title"/>
          </p:nvPr>
        </p:nvSpPr>
        <p:spPr/>
        <p:txBody>
          <a:bodyPr/>
          <a:lstStyle/>
          <a:p>
            <a:r>
              <a:rPr lang="en-US" dirty="0"/>
              <a:t>Why study computer organization? (Contd.)</a:t>
            </a:r>
          </a:p>
        </p:txBody>
      </p:sp>
      <p:sp>
        <p:nvSpPr>
          <p:cNvPr id="3" name="Content Placeholder 2">
            <a:extLst>
              <a:ext uri="{FF2B5EF4-FFF2-40B4-BE49-F238E27FC236}">
                <a16:creationId xmlns:a16="http://schemas.microsoft.com/office/drawing/2014/main" id="{57FDF7FC-874D-33D6-7319-38CE1277570E}"/>
              </a:ext>
            </a:extLst>
          </p:cNvPr>
          <p:cNvSpPr>
            <a:spLocks noGrp="1"/>
          </p:cNvSpPr>
          <p:nvPr>
            <p:ph idx="1"/>
          </p:nvPr>
        </p:nvSpPr>
        <p:spPr/>
        <p:txBody>
          <a:bodyPr>
            <a:normAutofit/>
          </a:bodyPr>
          <a:lstStyle/>
          <a:p>
            <a:r>
              <a:rPr lang="en-US" dirty="0"/>
              <a:t>How Code Structure affects the performance?</a:t>
            </a:r>
          </a:p>
          <a:p>
            <a:pPr lvl="1"/>
            <a:r>
              <a:rPr lang="en-US" dirty="0"/>
              <a:t>Choosing between </a:t>
            </a:r>
            <a:r>
              <a:rPr lang="en-US" dirty="0" err="1"/>
              <a:t>beq</a:t>
            </a:r>
            <a:r>
              <a:rPr lang="en-US" dirty="0"/>
              <a:t> and </a:t>
            </a:r>
            <a:r>
              <a:rPr lang="en-US" dirty="0" err="1"/>
              <a:t>bne</a:t>
            </a:r>
            <a:r>
              <a:rPr lang="en-US" dirty="0"/>
              <a:t>:</a:t>
            </a:r>
          </a:p>
          <a:p>
            <a:pPr lvl="1"/>
            <a:r>
              <a:rPr lang="en-US" dirty="0"/>
              <a:t>If the "equal" case is more likely to occur: Using </a:t>
            </a:r>
            <a:r>
              <a:rPr lang="en-US" dirty="0" err="1"/>
              <a:t>beq</a:t>
            </a:r>
            <a:r>
              <a:rPr lang="en-US" dirty="0"/>
              <a:t> can be slightly more efficient because it avoids the branch penalty.</a:t>
            </a:r>
          </a:p>
          <a:p>
            <a:pPr lvl="1"/>
            <a:r>
              <a:rPr lang="en-US" dirty="0"/>
              <a:t>If the "not equal" case is more likely to occur, and it involves more instructions: Using </a:t>
            </a:r>
            <a:r>
              <a:rPr lang="en-US" dirty="0" err="1"/>
              <a:t>bne</a:t>
            </a:r>
            <a:r>
              <a:rPr lang="en-US" dirty="0"/>
              <a:t> might be beneficial as it avoids the branch penalty in the more frequent and costly scenario.</a:t>
            </a:r>
          </a:p>
          <a:p>
            <a:pPr lvl="1"/>
            <a:r>
              <a:rPr lang="en-US" dirty="0"/>
              <a:t>Analyze the number of instructions in each branch of the conditional statement. If the "not equal" case involves more instructions, using </a:t>
            </a:r>
            <a:r>
              <a:rPr lang="en-US" dirty="0" err="1"/>
              <a:t>bne</a:t>
            </a:r>
            <a:r>
              <a:rPr lang="en-US" dirty="0"/>
              <a:t> as the first test might be advantageous as it avoids unnecessary branch penalties.</a:t>
            </a:r>
          </a:p>
        </p:txBody>
      </p:sp>
    </p:spTree>
    <p:extLst>
      <p:ext uri="{BB962C8B-B14F-4D97-AF65-F5344CB8AC3E}">
        <p14:creationId xmlns:p14="http://schemas.microsoft.com/office/powerpoint/2010/main" val="2630853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F61CF-6097-BAFA-7F9C-C20BEE06810E}"/>
              </a:ext>
            </a:extLst>
          </p:cNvPr>
          <p:cNvSpPr>
            <a:spLocks noGrp="1"/>
          </p:cNvSpPr>
          <p:nvPr>
            <p:ph type="title"/>
          </p:nvPr>
        </p:nvSpPr>
        <p:spPr>
          <a:xfrm>
            <a:off x="838200" y="365125"/>
            <a:ext cx="2773680" cy="2570099"/>
          </a:xfrm>
        </p:spPr>
        <p:txBody>
          <a:bodyPr>
            <a:normAutofit/>
          </a:bodyPr>
          <a:lstStyle/>
          <a:p>
            <a:r>
              <a:rPr lang="en-US" dirty="0"/>
              <a:t>High Level to Machine Level</a:t>
            </a:r>
          </a:p>
        </p:txBody>
      </p:sp>
      <p:sp>
        <p:nvSpPr>
          <p:cNvPr id="3" name="Content Placeholder 2">
            <a:extLst>
              <a:ext uri="{FF2B5EF4-FFF2-40B4-BE49-F238E27FC236}">
                <a16:creationId xmlns:a16="http://schemas.microsoft.com/office/drawing/2014/main" id="{5A813EF7-5F59-7A03-5BB3-5030FC80DEBF}"/>
              </a:ext>
            </a:extLst>
          </p:cNvPr>
          <p:cNvSpPr>
            <a:spLocks noGrp="1"/>
          </p:cNvSpPr>
          <p:nvPr>
            <p:ph idx="1"/>
          </p:nvPr>
        </p:nvSpPr>
        <p:spPr>
          <a:xfrm>
            <a:off x="838200" y="4370831"/>
            <a:ext cx="10515600" cy="1806131"/>
          </a:xfrm>
        </p:spPr>
        <p:txBody>
          <a:bodyPr/>
          <a:lstStyle/>
          <a:p>
            <a:endParaRPr lang="en-US" dirty="0"/>
          </a:p>
        </p:txBody>
      </p:sp>
      <p:pic>
        <p:nvPicPr>
          <p:cNvPr id="5" name="Picture 4">
            <a:extLst>
              <a:ext uri="{FF2B5EF4-FFF2-40B4-BE49-F238E27FC236}">
                <a16:creationId xmlns:a16="http://schemas.microsoft.com/office/drawing/2014/main" id="{DE1B6DF5-805C-AF06-1EEE-99BC4AEE3559}"/>
              </a:ext>
            </a:extLst>
          </p:cNvPr>
          <p:cNvPicPr>
            <a:picLocks noChangeAspect="1"/>
          </p:cNvPicPr>
          <p:nvPr/>
        </p:nvPicPr>
        <p:blipFill>
          <a:blip r:embed="rId2"/>
          <a:stretch>
            <a:fillRect/>
          </a:stretch>
        </p:blipFill>
        <p:spPr>
          <a:xfrm>
            <a:off x="4090987" y="819150"/>
            <a:ext cx="4010025" cy="6038850"/>
          </a:xfrm>
          <a:prstGeom prst="rect">
            <a:avLst/>
          </a:prstGeom>
        </p:spPr>
      </p:pic>
    </p:spTree>
    <p:extLst>
      <p:ext uri="{BB962C8B-B14F-4D97-AF65-F5344CB8AC3E}">
        <p14:creationId xmlns:p14="http://schemas.microsoft.com/office/powerpoint/2010/main" val="1047541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945C0-4DA8-9448-350F-9D7A1FF7F099}"/>
              </a:ext>
            </a:extLst>
          </p:cNvPr>
          <p:cNvSpPr>
            <a:spLocks noGrp="1"/>
          </p:cNvSpPr>
          <p:nvPr>
            <p:ph type="title"/>
          </p:nvPr>
        </p:nvSpPr>
        <p:spPr/>
        <p:txBody>
          <a:bodyPr/>
          <a:lstStyle/>
          <a:p>
            <a:r>
              <a:rPr lang="en-US" dirty="0"/>
              <a:t>Measuring Performance</a:t>
            </a:r>
          </a:p>
        </p:txBody>
      </p:sp>
      <p:sp>
        <p:nvSpPr>
          <p:cNvPr id="3" name="Content Placeholder 2">
            <a:extLst>
              <a:ext uri="{FF2B5EF4-FFF2-40B4-BE49-F238E27FC236}">
                <a16:creationId xmlns:a16="http://schemas.microsoft.com/office/drawing/2014/main" id="{5CCF9B1E-37AF-40B1-2803-FC6C805D0197}"/>
              </a:ext>
            </a:extLst>
          </p:cNvPr>
          <p:cNvSpPr>
            <a:spLocks noGrp="1"/>
          </p:cNvSpPr>
          <p:nvPr>
            <p:ph idx="1"/>
          </p:nvPr>
        </p:nvSpPr>
        <p:spPr/>
        <p:txBody>
          <a:bodyPr>
            <a:normAutofit fontScale="85000" lnSpcReduction="20000"/>
          </a:bodyPr>
          <a:lstStyle/>
          <a:p>
            <a:r>
              <a:rPr lang="en-US" dirty="0"/>
              <a:t>What is the measure of computer performance?</a:t>
            </a:r>
          </a:p>
          <a:p>
            <a:pPr lvl="1"/>
            <a:r>
              <a:rPr lang="en-US" dirty="0"/>
              <a:t>Time is the measure of computer performance. Program execution time is  measured in seconds per program.</a:t>
            </a:r>
          </a:p>
          <a:p>
            <a:r>
              <a:rPr lang="en-US" dirty="0"/>
              <a:t>What is elapsed time?</a:t>
            </a:r>
          </a:p>
          <a:p>
            <a:pPr lvl="1"/>
            <a:r>
              <a:rPr lang="en-US" dirty="0"/>
              <a:t>Elapsed time is the total time  to complete a task that includes disk accesses, memory accesses, input/output (I/O)  activities, operating system overhead—everything.</a:t>
            </a:r>
          </a:p>
          <a:p>
            <a:r>
              <a:rPr lang="en-US" dirty="0"/>
              <a:t>A processor may work on several  programs simultaneously. In such cases, the system may try to optimize throughput  rather than attempt to minimize the elapsed time for one program. </a:t>
            </a:r>
          </a:p>
          <a:p>
            <a:pPr lvl="1"/>
            <a:r>
              <a:rPr lang="en-US" dirty="0"/>
              <a:t>Hence, we  often want to distinguish between the elapsed time and the time taken by CPU to execute a program. </a:t>
            </a:r>
          </a:p>
          <a:p>
            <a:r>
              <a:rPr lang="en-US" dirty="0"/>
              <a:t>What is CPU execution time?</a:t>
            </a:r>
          </a:p>
          <a:p>
            <a:pPr lvl="1"/>
            <a:r>
              <a:rPr lang="en-US" dirty="0"/>
              <a:t>The time that CPU spends computing for a  task and does not include time spent waiting for I/O or running other programs.  </a:t>
            </a:r>
          </a:p>
        </p:txBody>
      </p:sp>
    </p:spTree>
    <p:extLst>
      <p:ext uri="{BB962C8B-B14F-4D97-AF65-F5344CB8AC3E}">
        <p14:creationId xmlns:p14="http://schemas.microsoft.com/office/powerpoint/2010/main" val="4196304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CB166-651B-4704-C8FE-B21CB7BAD0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796BDE-B08B-B5ED-B711-9869EA94B7A6}"/>
              </a:ext>
            </a:extLst>
          </p:cNvPr>
          <p:cNvSpPr>
            <a:spLocks noGrp="1"/>
          </p:cNvSpPr>
          <p:nvPr>
            <p:ph type="title"/>
          </p:nvPr>
        </p:nvSpPr>
        <p:spPr/>
        <p:txBody>
          <a:bodyPr/>
          <a:lstStyle/>
          <a:p>
            <a:r>
              <a:rPr lang="en-US" dirty="0"/>
              <a:t>Measuring Performance</a:t>
            </a:r>
          </a:p>
        </p:txBody>
      </p:sp>
      <p:sp>
        <p:nvSpPr>
          <p:cNvPr id="3" name="Content Placeholder 2">
            <a:extLst>
              <a:ext uri="{FF2B5EF4-FFF2-40B4-BE49-F238E27FC236}">
                <a16:creationId xmlns:a16="http://schemas.microsoft.com/office/drawing/2014/main" id="{6FDB9EAE-64BB-CCCE-3120-B2891135A0B3}"/>
              </a:ext>
            </a:extLst>
          </p:cNvPr>
          <p:cNvSpPr>
            <a:spLocks noGrp="1"/>
          </p:cNvSpPr>
          <p:nvPr>
            <p:ph idx="1"/>
          </p:nvPr>
        </p:nvSpPr>
        <p:spPr/>
        <p:txBody>
          <a:bodyPr>
            <a:normAutofit/>
          </a:bodyPr>
          <a:lstStyle/>
          <a:p>
            <a:r>
              <a:rPr lang="en-US" dirty="0"/>
              <a:t>Computers are constructed using a clock that determines when events take place in the hardware.</a:t>
            </a:r>
          </a:p>
          <a:p>
            <a:pPr lvl="1"/>
            <a:r>
              <a:rPr lang="en-US" dirty="0"/>
              <a:t>These discrete time intervals are called clock cycles </a:t>
            </a:r>
          </a:p>
          <a:p>
            <a:r>
              <a:rPr lang="en-US" dirty="0"/>
              <a:t>What is Clock Cycle?</a:t>
            </a:r>
          </a:p>
          <a:p>
            <a:pPr lvl="1"/>
            <a:r>
              <a:rPr lang="en-US" dirty="0"/>
              <a:t>Designers refer to the length of a clock period both as the time for a complete clock cycle (e.g., 250 picoseconds, or 250 </a:t>
            </a:r>
            <a:r>
              <a:rPr lang="en-US" dirty="0" err="1"/>
              <a:t>ps</a:t>
            </a:r>
            <a:r>
              <a:rPr lang="en-US" dirty="0"/>
              <a:t>)</a:t>
            </a:r>
          </a:p>
          <a:p>
            <a:r>
              <a:rPr lang="en-US" dirty="0"/>
              <a:t>What is Clock Rate?</a:t>
            </a:r>
          </a:p>
          <a:p>
            <a:pPr lvl="1"/>
            <a:r>
              <a:rPr lang="en-US" dirty="0"/>
              <a:t>The clock rate (e.g., 4 gigahertz, or 4 GHz), which is the inverse of the clock period</a:t>
            </a:r>
          </a:p>
        </p:txBody>
      </p:sp>
    </p:spTree>
    <p:extLst>
      <p:ext uri="{BB962C8B-B14F-4D97-AF65-F5344CB8AC3E}">
        <p14:creationId xmlns:p14="http://schemas.microsoft.com/office/powerpoint/2010/main" val="242869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D5A4B-8E38-D538-6B12-E5DB341B2F7F}"/>
              </a:ext>
            </a:extLst>
          </p:cNvPr>
          <p:cNvSpPr>
            <a:spLocks noGrp="1"/>
          </p:cNvSpPr>
          <p:nvPr>
            <p:ph type="title"/>
          </p:nvPr>
        </p:nvSpPr>
        <p:spPr/>
        <p:txBody>
          <a:bodyPr/>
          <a:lstStyle/>
          <a:p>
            <a:r>
              <a:rPr lang="en-US" dirty="0"/>
              <a:t>CPU Performance and Its Factors</a:t>
            </a:r>
          </a:p>
        </p:txBody>
      </p:sp>
      <p:sp>
        <p:nvSpPr>
          <p:cNvPr id="3" name="Content Placeholder 2">
            <a:extLst>
              <a:ext uri="{FF2B5EF4-FFF2-40B4-BE49-F238E27FC236}">
                <a16:creationId xmlns:a16="http://schemas.microsoft.com/office/drawing/2014/main" id="{ED70E3AB-42DA-A0EC-89B7-ECCE05DF574C}"/>
              </a:ext>
            </a:extLst>
          </p:cNvPr>
          <p:cNvSpPr>
            <a:spLocks noGrp="1"/>
          </p:cNvSpPr>
          <p:nvPr>
            <p:ph idx="1"/>
          </p:nvPr>
        </p:nvSpPr>
        <p:spPr/>
        <p:txBody>
          <a:bodyPr/>
          <a:lstStyle/>
          <a:p>
            <a:r>
              <a:rPr lang="en-US" dirty="0"/>
              <a:t>A simple formula relates the most basic metrics (clock cycles and clock cycle time) to CPU time:</a:t>
            </a:r>
          </a:p>
          <a:p>
            <a:pPr marL="0" indent="0">
              <a:buNone/>
            </a:pPr>
            <a:endParaRPr lang="en-US" dirty="0"/>
          </a:p>
          <a:p>
            <a:pPr marL="0" indent="0">
              <a:buNone/>
            </a:pPr>
            <a:endParaRPr lang="en-US" dirty="0"/>
          </a:p>
          <a:p>
            <a:pPr marL="0" indent="0">
              <a:buNone/>
            </a:pPr>
            <a:r>
              <a:rPr lang="en-US" dirty="0"/>
              <a:t>Alternatively, because clock rate and clock cycle time are inverses, </a:t>
            </a:r>
          </a:p>
        </p:txBody>
      </p:sp>
      <p:pic>
        <p:nvPicPr>
          <p:cNvPr id="5" name="Picture 4">
            <a:extLst>
              <a:ext uri="{FF2B5EF4-FFF2-40B4-BE49-F238E27FC236}">
                <a16:creationId xmlns:a16="http://schemas.microsoft.com/office/drawing/2014/main" id="{F3173169-D583-BB16-3570-FAE01E73B066}"/>
              </a:ext>
            </a:extLst>
          </p:cNvPr>
          <p:cNvPicPr>
            <a:picLocks noChangeAspect="1"/>
          </p:cNvPicPr>
          <p:nvPr/>
        </p:nvPicPr>
        <p:blipFill>
          <a:blip r:embed="rId2"/>
          <a:stretch>
            <a:fillRect/>
          </a:stretch>
        </p:blipFill>
        <p:spPr>
          <a:xfrm>
            <a:off x="3073908" y="2968370"/>
            <a:ext cx="5366004" cy="702691"/>
          </a:xfrm>
          <a:prstGeom prst="rect">
            <a:avLst/>
          </a:prstGeom>
        </p:spPr>
      </p:pic>
      <p:pic>
        <p:nvPicPr>
          <p:cNvPr id="9" name="Picture 8">
            <a:extLst>
              <a:ext uri="{FF2B5EF4-FFF2-40B4-BE49-F238E27FC236}">
                <a16:creationId xmlns:a16="http://schemas.microsoft.com/office/drawing/2014/main" id="{32D89A6E-1F32-DDA7-DF82-36136DD37B63}"/>
              </a:ext>
            </a:extLst>
          </p:cNvPr>
          <p:cNvPicPr>
            <a:picLocks noChangeAspect="1"/>
          </p:cNvPicPr>
          <p:nvPr/>
        </p:nvPicPr>
        <p:blipFill>
          <a:blip r:embed="rId3"/>
          <a:stretch>
            <a:fillRect/>
          </a:stretch>
        </p:blipFill>
        <p:spPr>
          <a:xfrm>
            <a:off x="2474404" y="4476844"/>
            <a:ext cx="6605588" cy="863476"/>
          </a:xfrm>
          <a:prstGeom prst="rect">
            <a:avLst/>
          </a:prstGeom>
        </p:spPr>
      </p:pic>
    </p:spTree>
    <p:extLst>
      <p:ext uri="{BB962C8B-B14F-4D97-AF65-F5344CB8AC3E}">
        <p14:creationId xmlns:p14="http://schemas.microsoft.com/office/powerpoint/2010/main" val="1720012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5572E-26F6-5761-69A5-6737606B87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C1BEC1-BC05-50E0-CA7E-156F13F15372}"/>
              </a:ext>
            </a:extLst>
          </p:cNvPr>
          <p:cNvSpPr>
            <a:spLocks noGrp="1"/>
          </p:cNvSpPr>
          <p:nvPr>
            <p:ph type="title"/>
          </p:nvPr>
        </p:nvSpPr>
        <p:spPr/>
        <p:txBody>
          <a:bodyPr/>
          <a:lstStyle/>
          <a:p>
            <a:r>
              <a:rPr lang="en-US" dirty="0"/>
              <a:t>CPU Performance and Its Factors</a:t>
            </a:r>
          </a:p>
        </p:txBody>
      </p:sp>
      <p:sp>
        <p:nvSpPr>
          <p:cNvPr id="3" name="Content Placeholder 2">
            <a:extLst>
              <a:ext uri="{FF2B5EF4-FFF2-40B4-BE49-F238E27FC236}">
                <a16:creationId xmlns:a16="http://schemas.microsoft.com/office/drawing/2014/main" id="{D3CBEED2-BDDB-C895-2461-600C248843E2}"/>
              </a:ext>
            </a:extLst>
          </p:cNvPr>
          <p:cNvSpPr>
            <a:spLocks noGrp="1"/>
          </p:cNvSpPr>
          <p:nvPr>
            <p:ph idx="1"/>
          </p:nvPr>
        </p:nvSpPr>
        <p:spPr/>
        <p:txBody>
          <a:bodyPr/>
          <a:lstStyle/>
          <a:p>
            <a:r>
              <a:rPr lang="en-US" dirty="0"/>
              <a:t>This formula makes it clear that the hardware designer can improve performance by reducing the number of clock cycles required for a program or the length of the clock cycle. </a:t>
            </a:r>
          </a:p>
          <a:p>
            <a:r>
              <a:rPr lang="en-US" dirty="0"/>
              <a:t>The designer often faces a trade-off between the number of clock cycles needed for a program and the length of each cycle. </a:t>
            </a:r>
          </a:p>
          <a:p>
            <a:pPr lvl="1"/>
            <a:r>
              <a:rPr lang="en-US" dirty="0"/>
              <a:t>Many techniques that decrease the number of clock cycles may also increase the clock cycle time.</a:t>
            </a:r>
          </a:p>
        </p:txBody>
      </p:sp>
    </p:spTree>
    <p:extLst>
      <p:ext uri="{BB962C8B-B14F-4D97-AF65-F5344CB8AC3E}">
        <p14:creationId xmlns:p14="http://schemas.microsoft.com/office/powerpoint/2010/main" val="2347851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01678-8C3D-90CF-A854-DFD00BCDDFF5}"/>
              </a:ext>
            </a:extLst>
          </p:cNvPr>
          <p:cNvSpPr>
            <a:spLocks noGrp="1"/>
          </p:cNvSpPr>
          <p:nvPr>
            <p:ph type="title"/>
          </p:nvPr>
        </p:nvSpPr>
        <p:spPr/>
        <p:txBody>
          <a:bodyPr/>
          <a:lstStyle/>
          <a:p>
            <a:r>
              <a:rPr lang="en-US" dirty="0"/>
              <a:t>Example: Improving Performance </a:t>
            </a:r>
          </a:p>
        </p:txBody>
      </p:sp>
      <p:sp>
        <p:nvSpPr>
          <p:cNvPr id="3" name="Content Placeholder 2">
            <a:extLst>
              <a:ext uri="{FF2B5EF4-FFF2-40B4-BE49-F238E27FC236}">
                <a16:creationId xmlns:a16="http://schemas.microsoft.com/office/drawing/2014/main" id="{2FC69325-5563-756A-B44A-EB2E24B21E1D}"/>
              </a:ext>
            </a:extLst>
          </p:cNvPr>
          <p:cNvSpPr>
            <a:spLocks noGrp="1"/>
          </p:cNvSpPr>
          <p:nvPr>
            <p:ph idx="1"/>
          </p:nvPr>
        </p:nvSpPr>
        <p:spPr/>
        <p:txBody>
          <a:bodyPr>
            <a:normAutofit/>
          </a:bodyPr>
          <a:lstStyle/>
          <a:p>
            <a:r>
              <a:rPr lang="en-US" dirty="0"/>
              <a:t>A program runs in 10 seconds on computer A, which has a 2 GHz  clock. We are trying to help a computer designer build a computer B, which will  run this program in 6 seconds. The designer has determined that a substantial  increase in the clock rate is possible, but this increase will affect the rest of the  CPU design, causing computer B to require 1.2 times as many clock cycles as computer A for this program. What clock rate should we tell the designer to target?</a:t>
            </a:r>
          </a:p>
        </p:txBody>
      </p:sp>
    </p:spTree>
    <p:extLst>
      <p:ext uri="{BB962C8B-B14F-4D97-AF65-F5344CB8AC3E}">
        <p14:creationId xmlns:p14="http://schemas.microsoft.com/office/powerpoint/2010/main" val="388883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A29A8-72B5-7485-9E27-FA5EE3617A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54AEC-852C-4C35-281A-BCB00E3483FD}"/>
              </a:ext>
            </a:extLst>
          </p:cNvPr>
          <p:cNvSpPr>
            <a:spLocks noGrp="1"/>
          </p:cNvSpPr>
          <p:nvPr>
            <p:ph type="title"/>
          </p:nvPr>
        </p:nvSpPr>
        <p:spPr/>
        <p:txBody>
          <a:bodyPr/>
          <a:lstStyle/>
          <a:p>
            <a:r>
              <a:rPr lang="en-US" dirty="0"/>
              <a:t>Example: Improving Performance </a:t>
            </a:r>
          </a:p>
        </p:txBody>
      </p:sp>
      <p:pic>
        <p:nvPicPr>
          <p:cNvPr id="5" name="Content Placeholder 4">
            <a:extLst>
              <a:ext uri="{FF2B5EF4-FFF2-40B4-BE49-F238E27FC236}">
                <a16:creationId xmlns:a16="http://schemas.microsoft.com/office/drawing/2014/main" id="{A08B79D0-9517-1CDF-1F1C-8FD8AD3D2730}"/>
              </a:ext>
            </a:extLst>
          </p:cNvPr>
          <p:cNvPicPr>
            <a:picLocks noGrp="1" noChangeAspect="1"/>
          </p:cNvPicPr>
          <p:nvPr>
            <p:ph idx="1"/>
          </p:nvPr>
        </p:nvPicPr>
        <p:blipFill>
          <a:blip r:embed="rId2"/>
          <a:stretch>
            <a:fillRect/>
          </a:stretch>
        </p:blipFill>
        <p:spPr>
          <a:xfrm>
            <a:off x="2713672" y="1390682"/>
            <a:ext cx="5667375" cy="2514600"/>
          </a:xfrm>
        </p:spPr>
      </p:pic>
      <p:pic>
        <p:nvPicPr>
          <p:cNvPr id="7" name="Picture 6">
            <a:extLst>
              <a:ext uri="{FF2B5EF4-FFF2-40B4-BE49-F238E27FC236}">
                <a16:creationId xmlns:a16="http://schemas.microsoft.com/office/drawing/2014/main" id="{281AEE89-CF5E-5739-7CF2-4C1CD15E6093}"/>
              </a:ext>
            </a:extLst>
          </p:cNvPr>
          <p:cNvPicPr>
            <a:picLocks noChangeAspect="1"/>
          </p:cNvPicPr>
          <p:nvPr/>
        </p:nvPicPr>
        <p:blipFill>
          <a:blip r:embed="rId3"/>
          <a:stretch>
            <a:fillRect/>
          </a:stretch>
        </p:blipFill>
        <p:spPr>
          <a:xfrm>
            <a:off x="2953795" y="4238625"/>
            <a:ext cx="5972175" cy="2619375"/>
          </a:xfrm>
          <a:prstGeom prst="rect">
            <a:avLst/>
          </a:prstGeom>
        </p:spPr>
      </p:pic>
    </p:spTree>
    <p:extLst>
      <p:ext uri="{BB962C8B-B14F-4D97-AF65-F5344CB8AC3E}">
        <p14:creationId xmlns:p14="http://schemas.microsoft.com/office/powerpoint/2010/main" val="78030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1FED9-C0F3-38F0-74E3-72CB09AEE3CE}"/>
              </a:ext>
            </a:extLst>
          </p:cNvPr>
          <p:cNvSpPr>
            <a:spLocks noGrp="1"/>
          </p:cNvSpPr>
          <p:nvPr>
            <p:ph type="title"/>
          </p:nvPr>
        </p:nvSpPr>
        <p:spPr/>
        <p:txBody>
          <a:bodyPr/>
          <a:lstStyle/>
          <a:p>
            <a:r>
              <a:rPr lang="en-US" dirty="0"/>
              <a:t>Instruction Performance </a:t>
            </a:r>
          </a:p>
        </p:txBody>
      </p:sp>
      <p:sp>
        <p:nvSpPr>
          <p:cNvPr id="3" name="Content Placeholder 2">
            <a:extLst>
              <a:ext uri="{FF2B5EF4-FFF2-40B4-BE49-F238E27FC236}">
                <a16:creationId xmlns:a16="http://schemas.microsoft.com/office/drawing/2014/main" id="{09F9C0F5-2B56-DE52-A340-783355A6519F}"/>
              </a:ext>
            </a:extLst>
          </p:cNvPr>
          <p:cNvSpPr>
            <a:spLocks noGrp="1"/>
          </p:cNvSpPr>
          <p:nvPr>
            <p:ph idx="1"/>
          </p:nvPr>
        </p:nvSpPr>
        <p:spPr/>
        <p:txBody>
          <a:bodyPr>
            <a:normAutofit/>
          </a:bodyPr>
          <a:lstStyle/>
          <a:p>
            <a:r>
              <a:rPr lang="en-US" dirty="0"/>
              <a:t>The performance equations above did not include any reference to the number of  instructions needed for the program. </a:t>
            </a:r>
          </a:p>
          <a:p>
            <a:r>
              <a:rPr lang="en-US" dirty="0"/>
              <a:t>However, since the compiler clearly generated instructions to execute, and the computer had to execute the instructions to run  the program, the execution time must depend on the number of instructions in a  program. </a:t>
            </a:r>
          </a:p>
          <a:p>
            <a:pPr lvl="1"/>
            <a:r>
              <a:rPr lang="en-US" dirty="0"/>
              <a:t>Then execution time = Number of instructions x Average time per instruction. </a:t>
            </a:r>
          </a:p>
          <a:p>
            <a:pPr lvl="1"/>
            <a:r>
              <a:rPr lang="en-US" dirty="0"/>
              <a:t>Therefore, the number of clock cycles required for a program can be written as</a:t>
            </a:r>
          </a:p>
        </p:txBody>
      </p:sp>
      <p:pic>
        <p:nvPicPr>
          <p:cNvPr id="5" name="Picture 4">
            <a:extLst>
              <a:ext uri="{FF2B5EF4-FFF2-40B4-BE49-F238E27FC236}">
                <a16:creationId xmlns:a16="http://schemas.microsoft.com/office/drawing/2014/main" id="{49823771-7CE1-5E0C-7771-A4DC0AE48CA1}"/>
              </a:ext>
            </a:extLst>
          </p:cNvPr>
          <p:cNvPicPr>
            <a:picLocks noChangeAspect="1"/>
          </p:cNvPicPr>
          <p:nvPr/>
        </p:nvPicPr>
        <p:blipFill>
          <a:blip r:embed="rId2"/>
          <a:stretch>
            <a:fillRect/>
          </a:stretch>
        </p:blipFill>
        <p:spPr>
          <a:xfrm>
            <a:off x="2815610" y="5486950"/>
            <a:ext cx="6560779" cy="690013"/>
          </a:xfrm>
          <a:prstGeom prst="rect">
            <a:avLst/>
          </a:prstGeom>
        </p:spPr>
      </p:pic>
    </p:spTree>
    <p:extLst>
      <p:ext uri="{BB962C8B-B14F-4D97-AF65-F5344CB8AC3E}">
        <p14:creationId xmlns:p14="http://schemas.microsoft.com/office/powerpoint/2010/main" val="3811780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669E5-1FED-2968-8409-2ACBC46870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A478B-8569-F5B8-2695-F7D24B15C5D8}"/>
              </a:ext>
            </a:extLst>
          </p:cNvPr>
          <p:cNvSpPr>
            <a:spLocks noGrp="1"/>
          </p:cNvSpPr>
          <p:nvPr>
            <p:ph type="title"/>
          </p:nvPr>
        </p:nvSpPr>
        <p:spPr/>
        <p:txBody>
          <a:bodyPr/>
          <a:lstStyle/>
          <a:p>
            <a:r>
              <a:rPr lang="en-US" dirty="0"/>
              <a:t>Instruction Performance </a:t>
            </a:r>
          </a:p>
        </p:txBody>
      </p:sp>
      <p:sp>
        <p:nvSpPr>
          <p:cNvPr id="3" name="Content Placeholder 2">
            <a:extLst>
              <a:ext uri="{FF2B5EF4-FFF2-40B4-BE49-F238E27FC236}">
                <a16:creationId xmlns:a16="http://schemas.microsoft.com/office/drawing/2014/main" id="{758E7A5F-0D32-6741-4717-BD6A44F9253E}"/>
              </a:ext>
            </a:extLst>
          </p:cNvPr>
          <p:cNvSpPr>
            <a:spLocks noGrp="1"/>
          </p:cNvSpPr>
          <p:nvPr>
            <p:ph idx="1"/>
          </p:nvPr>
        </p:nvSpPr>
        <p:spPr/>
        <p:txBody>
          <a:bodyPr>
            <a:normAutofit/>
          </a:bodyPr>
          <a:lstStyle/>
          <a:p>
            <a:r>
              <a:rPr lang="en-US" dirty="0"/>
              <a:t>What are clock cycles per instruction?</a:t>
            </a:r>
          </a:p>
          <a:p>
            <a:pPr lvl="1"/>
            <a:r>
              <a:rPr lang="en-US" dirty="0"/>
              <a:t>It is the </a:t>
            </a:r>
            <a:r>
              <a:rPr lang="en-US" b="1" dirty="0">
                <a:solidFill>
                  <a:srgbClr val="FF0000"/>
                </a:solidFill>
              </a:rPr>
              <a:t>average number of clock cycles a processor takes to execute a single instruction </a:t>
            </a:r>
            <a:r>
              <a:rPr lang="en-US" dirty="0"/>
              <a:t>and abbreviated as CPI </a:t>
            </a:r>
          </a:p>
          <a:p>
            <a:pPr lvl="1"/>
            <a:r>
              <a:rPr lang="en-US" dirty="0"/>
              <a:t> A lower CPI indicates that a processor is more efficient, as it can execute instructions in fewer cycles. </a:t>
            </a:r>
          </a:p>
          <a:p>
            <a:r>
              <a:rPr lang="en-US" dirty="0"/>
              <a:t>What does CPI offer?</a:t>
            </a:r>
          </a:p>
          <a:p>
            <a:pPr lvl="1"/>
            <a:r>
              <a:rPr lang="en-US" dirty="0"/>
              <a:t>It provides one </a:t>
            </a:r>
            <a:r>
              <a:rPr lang="en-US" b="1" dirty="0">
                <a:solidFill>
                  <a:srgbClr val="FF0000"/>
                </a:solidFill>
              </a:rPr>
              <a:t>way of comparing two different implementations </a:t>
            </a:r>
            <a:r>
              <a:rPr lang="en-US" dirty="0"/>
              <a:t>of the same instruction set architecture, since the number of instructions executed for a program will, of course, be the same.</a:t>
            </a:r>
          </a:p>
        </p:txBody>
      </p:sp>
    </p:spTree>
    <p:extLst>
      <p:ext uri="{BB962C8B-B14F-4D97-AF65-F5344CB8AC3E}">
        <p14:creationId xmlns:p14="http://schemas.microsoft.com/office/powerpoint/2010/main" val="19968241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07D14-D03C-5037-81EA-2628CD3EF4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953B6F-D54A-E5A2-19F8-9D91986575A7}"/>
              </a:ext>
            </a:extLst>
          </p:cNvPr>
          <p:cNvSpPr>
            <a:spLocks noGrp="1"/>
          </p:cNvSpPr>
          <p:nvPr>
            <p:ph type="title"/>
          </p:nvPr>
        </p:nvSpPr>
        <p:spPr/>
        <p:txBody>
          <a:bodyPr/>
          <a:lstStyle/>
          <a:p>
            <a:r>
              <a:rPr lang="en-US" dirty="0"/>
              <a:t>Example: Instruction Performance </a:t>
            </a:r>
          </a:p>
        </p:txBody>
      </p:sp>
      <p:sp>
        <p:nvSpPr>
          <p:cNvPr id="3" name="Content Placeholder 2">
            <a:extLst>
              <a:ext uri="{FF2B5EF4-FFF2-40B4-BE49-F238E27FC236}">
                <a16:creationId xmlns:a16="http://schemas.microsoft.com/office/drawing/2014/main" id="{DC82B04C-2720-3DB4-CDE7-B5F8F67987A8}"/>
              </a:ext>
            </a:extLst>
          </p:cNvPr>
          <p:cNvSpPr>
            <a:spLocks noGrp="1"/>
          </p:cNvSpPr>
          <p:nvPr>
            <p:ph idx="1"/>
          </p:nvPr>
        </p:nvSpPr>
        <p:spPr/>
        <p:txBody>
          <a:bodyPr>
            <a:normAutofit/>
          </a:bodyPr>
          <a:lstStyle/>
          <a:p>
            <a:r>
              <a:rPr lang="en-US" dirty="0"/>
              <a:t>Suppose we have two implementations of the same instruction set architecture. Computer A has a clock cycle time of 250 </a:t>
            </a:r>
            <a:r>
              <a:rPr lang="en-US" dirty="0" err="1"/>
              <a:t>ps</a:t>
            </a:r>
            <a:r>
              <a:rPr lang="en-US" dirty="0"/>
              <a:t> and a CPI of 2.0 for some program, and computer B has a clock cycle time of 500 </a:t>
            </a:r>
            <a:r>
              <a:rPr lang="en-US" dirty="0" err="1"/>
              <a:t>ps</a:t>
            </a:r>
            <a:r>
              <a:rPr lang="en-US" dirty="0"/>
              <a:t> and a CPI of 1.2 for the same program. Which computer is faster for this program and by how much?</a:t>
            </a:r>
          </a:p>
        </p:txBody>
      </p:sp>
    </p:spTree>
    <p:extLst>
      <p:ext uri="{BB962C8B-B14F-4D97-AF65-F5344CB8AC3E}">
        <p14:creationId xmlns:p14="http://schemas.microsoft.com/office/powerpoint/2010/main" val="2218491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21CBE-7FBB-04F0-AED5-3B89B14161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81B812-696E-0B10-FDE2-44491170EDBA}"/>
              </a:ext>
            </a:extLst>
          </p:cNvPr>
          <p:cNvSpPr>
            <a:spLocks noGrp="1"/>
          </p:cNvSpPr>
          <p:nvPr>
            <p:ph type="title"/>
          </p:nvPr>
        </p:nvSpPr>
        <p:spPr/>
        <p:txBody>
          <a:bodyPr/>
          <a:lstStyle/>
          <a:p>
            <a:r>
              <a:rPr lang="en-US" dirty="0"/>
              <a:t>Example: Instruction Performance </a:t>
            </a:r>
          </a:p>
        </p:txBody>
      </p:sp>
      <p:pic>
        <p:nvPicPr>
          <p:cNvPr id="5" name="Content Placeholder 4">
            <a:extLst>
              <a:ext uri="{FF2B5EF4-FFF2-40B4-BE49-F238E27FC236}">
                <a16:creationId xmlns:a16="http://schemas.microsoft.com/office/drawing/2014/main" id="{37D63F0E-CE2D-6DD9-4812-FB64A53B7C39}"/>
              </a:ext>
            </a:extLst>
          </p:cNvPr>
          <p:cNvPicPr>
            <a:picLocks noGrp="1" noChangeAspect="1"/>
          </p:cNvPicPr>
          <p:nvPr>
            <p:ph idx="1"/>
          </p:nvPr>
        </p:nvPicPr>
        <p:blipFill>
          <a:blip r:embed="rId2"/>
          <a:stretch>
            <a:fillRect/>
          </a:stretch>
        </p:blipFill>
        <p:spPr>
          <a:xfrm>
            <a:off x="2525783" y="1384309"/>
            <a:ext cx="6874695" cy="5473691"/>
          </a:xfrm>
        </p:spPr>
      </p:pic>
    </p:spTree>
    <p:extLst>
      <p:ext uri="{BB962C8B-B14F-4D97-AF65-F5344CB8AC3E}">
        <p14:creationId xmlns:p14="http://schemas.microsoft.com/office/powerpoint/2010/main" val="3449851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F0A2E-C9DC-E247-386B-A214B9D693C9}"/>
              </a:ext>
            </a:extLst>
          </p:cNvPr>
          <p:cNvSpPr>
            <a:spLocks noGrp="1"/>
          </p:cNvSpPr>
          <p:nvPr>
            <p:ph type="title"/>
          </p:nvPr>
        </p:nvSpPr>
        <p:spPr/>
        <p:txBody>
          <a:bodyPr/>
          <a:lstStyle/>
          <a:p>
            <a:r>
              <a:rPr lang="en-US" dirty="0"/>
              <a:t>The Classic CPU Performance Equation</a:t>
            </a:r>
          </a:p>
        </p:txBody>
      </p:sp>
      <p:sp>
        <p:nvSpPr>
          <p:cNvPr id="3" name="Content Placeholder 2">
            <a:extLst>
              <a:ext uri="{FF2B5EF4-FFF2-40B4-BE49-F238E27FC236}">
                <a16:creationId xmlns:a16="http://schemas.microsoft.com/office/drawing/2014/main" id="{A1A68832-B48A-AC8F-06FE-8E4DCA2CE0C8}"/>
              </a:ext>
            </a:extLst>
          </p:cNvPr>
          <p:cNvSpPr>
            <a:spLocks noGrp="1"/>
          </p:cNvSpPr>
          <p:nvPr>
            <p:ph idx="1"/>
          </p:nvPr>
        </p:nvSpPr>
        <p:spPr/>
        <p:txBody>
          <a:bodyPr/>
          <a:lstStyle/>
          <a:p>
            <a:r>
              <a:rPr lang="en-US" dirty="0"/>
              <a:t>The basic performance equation in terms of instruction count (the number of instructions executed by the program), CPI, and clock cycle time:</a:t>
            </a:r>
          </a:p>
          <a:p>
            <a:endParaRPr lang="en-US" dirty="0"/>
          </a:p>
          <a:p>
            <a:endParaRPr lang="en-US" dirty="0"/>
          </a:p>
          <a:p>
            <a:r>
              <a:rPr lang="en-US" dirty="0"/>
              <a:t>or, since the clock rate is the inverse of clock cycle time: </a:t>
            </a:r>
          </a:p>
        </p:txBody>
      </p:sp>
      <p:pic>
        <p:nvPicPr>
          <p:cNvPr id="5" name="Picture 4">
            <a:extLst>
              <a:ext uri="{FF2B5EF4-FFF2-40B4-BE49-F238E27FC236}">
                <a16:creationId xmlns:a16="http://schemas.microsoft.com/office/drawing/2014/main" id="{CA226851-E832-8BC9-7657-D8DB5B3BF28E}"/>
              </a:ext>
            </a:extLst>
          </p:cNvPr>
          <p:cNvPicPr>
            <a:picLocks noChangeAspect="1"/>
          </p:cNvPicPr>
          <p:nvPr/>
        </p:nvPicPr>
        <p:blipFill>
          <a:blip r:embed="rId2"/>
          <a:stretch>
            <a:fillRect/>
          </a:stretch>
        </p:blipFill>
        <p:spPr>
          <a:xfrm>
            <a:off x="2389521" y="3245238"/>
            <a:ext cx="7412957" cy="590550"/>
          </a:xfrm>
          <a:prstGeom prst="rect">
            <a:avLst/>
          </a:prstGeom>
        </p:spPr>
      </p:pic>
      <p:pic>
        <p:nvPicPr>
          <p:cNvPr id="7" name="Picture 6">
            <a:extLst>
              <a:ext uri="{FF2B5EF4-FFF2-40B4-BE49-F238E27FC236}">
                <a16:creationId xmlns:a16="http://schemas.microsoft.com/office/drawing/2014/main" id="{968A9DF4-A0C4-A098-F234-C32DA639A514}"/>
              </a:ext>
            </a:extLst>
          </p:cNvPr>
          <p:cNvPicPr>
            <a:picLocks noChangeAspect="1"/>
          </p:cNvPicPr>
          <p:nvPr/>
        </p:nvPicPr>
        <p:blipFill>
          <a:blip r:embed="rId3"/>
          <a:stretch>
            <a:fillRect/>
          </a:stretch>
        </p:blipFill>
        <p:spPr>
          <a:xfrm>
            <a:off x="3606606" y="4823553"/>
            <a:ext cx="4373318" cy="863696"/>
          </a:xfrm>
          <a:prstGeom prst="rect">
            <a:avLst/>
          </a:prstGeom>
        </p:spPr>
      </p:pic>
    </p:spTree>
    <p:extLst>
      <p:ext uri="{BB962C8B-B14F-4D97-AF65-F5344CB8AC3E}">
        <p14:creationId xmlns:p14="http://schemas.microsoft.com/office/powerpoint/2010/main" val="6919548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8F0F1-EC44-8208-FB39-7F9C436B45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4E4193-4882-0A9C-87C9-EE266FFADAE6}"/>
              </a:ext>
            </a:extLst>
          </p:cNvPr>
          <p:cNvSpPr>
            <a:spLocks noGrp="1"/>
          </p:cNvSpPr>
          <p:nvPr>
            <p:ph type="title"/>
          </p:nvPr>
        </p:nvSpPr>
        <p:spPr/>
        <p:txBody>
          <a:bodyPr/>
          <a:lstStyle/>
          <a:p>
            <a:r>
              <a:rPr lang="en-US" dirty="0"/>
              <a:t>The Classic CPU Performance Equation</a:t>
            </a:r>
          </a:p>
        </p:txBody>
      </p:sp>
      <p:sp>
        <p:nvSpPr>
          <p:cNvPr id="3" name="Content Placeholder 2">
            <a:extLst>
              <a:ext uri="{FF2B5EF4-FFF2-40B4-BE49-F238E27FC236}">
                <a16:creationId xmlns:a16="http://schemas.microsoft.com/office/drawing/2014/main" id="{A3DBB9F8-ECB5-66D6-80AF-250B856BD887}"/>
              </a:ext>
            </a:extLst>
          </p:cNvPr>
          <p:cNvSpPr>
            <a:spLocks noGrp="1"/>
          </p:cNvSpPr>
          <p:nvPr>
            <p:ph idx="1"/>
          </p:nvPr>
        </p:nvSpPr>
        <p:spPr/>
        <p:txBody>
          <a:bodyPr/>
          <a:lstStyle/>
          <a:p>
            <a:endParaRPr lang="en-US" dirty="0"/>
          </a:p>
          <a:p>
            <a:endParaRPr lang="en-US" dirty="0"/>
          </a:p>
          <a:p>
            <a:r>
              <a:rPr lang="en-US" dirty="0"/>
              <a:t>Why this formula is useful?</a:t>
            </a:r>
          </a:p>
          <a:p>
            <a:pPr lvl="1"/>
            <a:r>
              <a:rPr lang="en-US" dirty="0"/>
              <a:t>Because it separate the three key factors that affect performance.</a:t>
            </a:r>
          </a:p>
          <a:p>
            <a:pPr lvl="1"/>
            <a:r>
              <a:rPr lang="en-US" dirty="0"/>
              <a:t>We can use this formula to compare two different implementations or to evaluate a design alternative if we know its impact on these three parameters.</a:t>
            </a:r>
          </a:p>
        </p:txBody>
      </p:sp>
      <p:pic>
        <p:nvPicPr>
          <p:cNvPr id="4" name="Picture 3">
            <a:extLst>
              <a:ext uri="{FF2B5EF4-FFF2-40B4-BE49-F238E27FC236}">
                <a16:creationId xmlns:a16="http://schemas.microsoft.com/office/drawing/2014/main" id="{8C234740-477C-893F-7155-8203598B5822}"/>
              </a:ext>
            </a:extLst>
          </p:cNvPr>
          <p:cNvPicPr>
            <a:picLocks noChangeAspect="1"/>
          </p:cNvPicPr>
          <p:nvPr/>
        </p:nvPicPr>
        <p:blipFill>
          <a:blip r:embed="rId2"/>
          <a:stretch>
            <a:fillRect/>
          </a:stretch>
        </p:blipFill>
        <p:spPr>
          <a:xfrm>
            <a:off x="2243217" y="2157102"/>
            <a:ext cx="7412957" cy="590550"/>
          </a:xfrm>
          <a:prstGeom prst="rect">
            <a:avLst/>
          </a:prstGeom>
        </p:spPr>
      </p:pic>
    </p:spTree>
    <p:extLst>
      <p:ext uri="{BB962C8B-B14F-4D97-AF65-F5344CB8AC3E}">
        <p14:creationId xmlns:p14="http://schemas.microsoft.com/office/powerpoint/2010/main" val="3732096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7C4C2-4869-1868-2D94-BF5B93237B86}"/>
              </a:ext>
            </a:extLst>
          </p:cNvPr>
          <p:cNvSpPr>
            <a:spLocks noGrp="1"/>
          </p:cNvSpPr>
          <p:nvPr>
            <p:ph type="title"/>
          </p:nvPr>
        </p:nvSpPr>
        <p:spPr/>
        <p:txBody>
          <a:bodyPr/>
          <a:lstStyle/>
          <a:p>
            <a:r>
              <a:rPr lang="en-US" dirty="0"/>
              <a:t>Example: Comparing Code Segments </a:t>
            </a:r>
          </a:p>
        </p:txBody>
      </p:sp>
      <p:sp>
        <p:nvSpPr>
          <p:cNvPr id="3" name="Content Placeholder 2">
            <a:extLst>
              <a:ext uri="{FF2B5EF4-FFF2-40B4-BE49-F238E27FC236}">
                <a16:creationId xmlns:a16="http://schemas.microsoft.com/office/drawing/2014/main" id="{328E6CAE-2BA8-5FCE-445F-CCA71FB45BF1}"/>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25FCE734-4DB0-506B-B229-F6480FA1967A}"/>
              </a:ext>
            </a:extLst>
          </p:cNvPr>
          <p:cNvPicPr>
            <a:picLocks noChangeAspect="1"/>
          </p:cNvPicPr>
          <p:nvPr/>
        </p:nvPicPr>
        <p:blipFill>
          <a:blip r:embed="rId2"/>
          <a:stretch>
            <a:fillRect/>
          </a:stretch>
        </p:blipFill>
        <p:spPr>
          <a:xfrm>
            <a:off x="1636441" y="1470233"/>
            <a:ext cx="8919117" cy="5249860"/>
          </a:xfrm>
          <a:prstGeom prst="rect">
            <a:avLst/>
          </a:prstGeom>
        </p:spPr>
      </p:pic>
    </p:spTree>
    <p:extLst>
      <p:ext uri="{BB962C8B-B14F-4D97-AF65-F5344CB8AC3E}">
        <p14:creationId xmlns:p14="http://schemas.microsoft.com/office/powerpoint/2010/main" val="16056041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5BE31-8CAE-267B-730D-FA58B7F4CC4F}"/>
              </a:ext>
            </a:extLst>
          </p:cNvPr>
          <p:cNvSpPr>
            <a:spLocks noGrp="1"/>
          </p:cNvSpPr>
          <p:nvPr>
            <p:ph type="title"/>
          </p:nvPr>
        </p:nvSpPr>
        <p:spPr/>
        <p:txBody>
          <a:bodyPr/>
          <a:lstStyle/>
          <a:p>
            <a:r>
              <a:rPr lang="en-US" dirty="0"/>
              <a:t>Example: Comparing Code Segments </a:t>
            </a:r>
          </a:p>
        </p:txBody>
      </p:sp>
      <p:sp>
        <p:nvSpPr>
          <p:cNvPr id="3" name="Content Placeholder 2">
            <a:extLst>
              <a:ext uri="{FF2B5EF4-FFF2-40B4-BE49-F238E27FC236}">
                <a16:creationId xmlns:a16="http://schemas.microsoft.com/office/drawing/2014/main" id="{76F0109C-D102-6673-EA70-5EB931AFB08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91D44C27-2E78-35D2-48B6-EEECC458CD18}"/>
              </a:ext>
            </a:extLst>
          </p:cNvPr>
          <p:cNvPicPr>
            <a:picLocks noChangeAspect="1"/>
          </p:cNvPicPr>
          <p:nvPr/>
        </p:nvPicPr>
        <p:blipFill>
          <a:blip r:embed="rId2"/>
          <a:stretch>
            <a:fillRect/>
          </a:stretch>
        </p:blipFill>
        <p:spPr>
          <a:xfrm>
            <a:off x="2986278" y="1291431"/>
            <a:ext cx="5981700" cy="5419725"/>
          </a:xfrm>
          <a:prstGeom prst="rect">
            <a:avLst/>
          </a:prstGeom>
        </p:spPr>
      </p:pic>
    </p:spTree>
    <p:extLst>
      <p:ext uri="{BB962C8B-B14F-4D97-AF65-F5344CB8AC3E}">
        <p14:creationId xmlns:p14="http://schemas.microsoft.com/office/powerpoint/2010/main" val="2368552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04DF3-D233-386D-3B9B-A51355018F4B}"/>
              </a:ext>
            </a:extLst>
          </p:cNvPr>
          <p:cNvSpPr>
            <a:spLocks noGrp="1"/>
          </p:cNvSpPr>
          <p:nvPr>
            <p:ph type="title"/>
          </p:nvPr>
        </p:nvSpPr>
        <p:spPr/>
        <p:txBody>
          <a:bodyPr/>
          <a:lstStyle/>
          <a:p>
            <a:r>
              <a:rPr lang="en-US" dirty="0"/>
              <a:t>The Classic CPU Performance Equation</a:t>
            </a:r>
          </a:p>
        </p:txBody>
      </p:sp>
      <p:sp>
        <p:nvSpPr>
          <p:cNvPr id="3" name="Content Placeholder 2">
            <a:extLst>
              <a:ext uri="{FF2B5EF4-FFF2-40B4-BE49-F238E27FC236}">
                <a16:creationId xmlns:a16="http://schemas.microsoft.com/office/drawing/2014/main" id="{30D19545-0854-D795-B2AA-9A02A38F0F08}"/>
              </a:ext>
            </a:extLst>
          </p:cNvPr>
          <p:cNvSpPr>
            <a:spLocks noGrp="1"/>
          </p:cNvSpPr>
          <p:nvPr>
            <p:ph idx="1"/>
          </p:nvPr>
        </p:nvSpPr>
        <p:spPr/>
        <p:txBody>
          <a:bodyPr/>
          <a:lstStyle/>
          <a:p>
            <a:r>
              <a:rPr lang="en-US" dirty="0"/>
              <a:t>Figure shows the basic measurements at different levels in the computer and what is being measured in each case</a:t>
            </a:r>
          </a:p>
        </p:txBody>
      </p:sp>
      <p:pic>
        <p:nvPicPr>
          <p:cNvPr id="5" name="Picture 4">
            <a:extLst>
              <a:ext uri="{FF2B5EF4-FFF2-40B4-BE49-F238E27FC236}">
                <a16:creationId xmlns:a16="http://schemas.microsoft.com/office/drawing/2014/main" id="{6D31FEF9-FCE7-B25B-1FE3-191C92357665}"/>
              </a:ext>
            </a:extLst>
          </p:cNvPr>
          <p:cNvPicPr>
            <a:picLocks noChangeAspect="1"/>
          </p:cNvPicPr>
          <p:nvPr/>
        </p:nvPicPr>
        <p:blipFill>
          <a:blip r:embed="rId2"/>
          <a:stretch>
            <a:fillRect/>
          </a:stretch>
        </p:blipFill>
        <p:spPr>
          <a:xfrm>
            <a:off x="2101545" y="3001835"/>
            <a:ext cx="8840848" cy="1998917"/>
          </a:xfrm>
          <a:prstGeom prst="rect">
            <a:avLst/>
          </a:prstGeom>
        </p:spPr>
      </p:pic>
    </p:spTree>
    <p:extLst>
      <p:ext uri="{BB962C8B-B14F-4D97-AF65-F5344CB8AC3E}">
        <p14:creationId xmlns:p14="http://schemas.microsoft.com/office/powerpoint/2010/main" val="3812967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A695D-D634-C0EF-D5FB-884377592952}"/>
              </a:ext>
            </a:extLst>
          </p:cNvPr>
          <p:cNvSpPr>
            <a:spLocks noGrp="1"/>
          </p:cNvSpPr>
          <p:nvPr>
            <p:ph type="title"/>
          </p:nvPr>
        </p:nvSpPr>
        <p:spPr/>
        <p:txBody>
          <a:bodyPr/>
          <a:lstStyle/>
          <a:p>
            <a:r>
              <a:rPr lang="en-US" dirty="0"/>
              <a:t>The Classic CPU Performance Equation</a:t>
            </a:r>
          </a:p>
        </p:txBody>
      </p:sp>
      <p:sp>
        <p:nvSpPr>
          <p:cNvPr id="3" name="Content Placeholder 2">
            <a:extLst>
              <a:ext uri="{FF2B5EF4-FFF2-40B4-BE49-F238E27FC236}">
                <a16:creationId xmlns:a16="http://schemas.microsoft.com/office/drawing/2014/main" id="{E8BDEBDE-F743-857D-F5DA-7B13B56A6E0B}"/>
              </a:ext>
            </a:extLst>
          </p:cNvPr>
          <p:cNvSpPr>
            <a:spLocks noGrp="1"/>
          </p:cNvSpPr>
          <p:nvPr>
            <p:ph idx="1"/>
          </p:nvPr>
        </p:nvSpPr>
        <p:spPr/>
        <p:txBody>
          <a:bodyPr>
            <a:normAutofit fontScale="92500" lnSpcReduction="10000"/>
          </a:bodyPr>
          <a:lstStyle/>
          <a:p>
            <a:r>
              <a:rPr lang="en-US" dirty="0"/>
              <a:t>We can see how these factors are combined to yield execution time measured in seconds per program:</a:t>
            </a:r>
          </a:p>
          <a:p>
            <a:endParaRPr lang="en-US" dirty="0"/>
          </a:p>
          <a:p>
            <a:endParaRPr lang="en-US" dirty="0"/>
          </a:p>
          <a:p>
            <a:r>
              <a:rPr lang="en-US" dirty="0"/>
              <a:t>Always bear in mind that the only complete and reliable measure of computer performance is time. </a:t>
            </a:r>
          </a:p>
          <a:p>
            <a:r>
              <a:rPr lang="en-US" dirty="0"/>
              <a:t>For example, changing the instruction set to lower the instruction count may lead to an organization with a slower clock cycle time or higher CPI that off sets the improvement in instruction count. </a:t>
            </a:r>
          </a:p>
          <a:p>
            <a:r>
              <a:rPr lang="en-US" dirty="0"/>
              <a:t>Similarly, because CPI depends on type of instructions executed, the code that executes the fewest number of instructions may not be the fastest</a:t>
            </a:r>
          </a:p>
        </p:txBody>
      </p:sp>
      <p:pic>
        <p:nvPicPr>
          <p:cNvPr id="5" name="Picture 4">
            <a:extLst>
              <a:ext uri="{FF2B5EF4-FFF2-40B4-BE49-F238E27FC236}">
                <a16:creationId xmlns:a16="http://schemas.microsoft.com/office/drawing/2014/main" id="{C0F2FA9E-7AD0-5E49-BA04-FF6804287673}"/>
              </a:ext>
            </a:extLst>
          </p:cNvPr>
          <p:cNvPicPr>
            <a:picLocks noChangeAspect="1"/>
          </p:cNvPicPr>
          <p:nvPr/>
        </p:nvPicPr>
        <p:blipFill>
          <a:blip r:embed="rId2"/>
          <a:stretch>
            <a:fillRect/>
          </a:stretch>
        </p:blipFill>
        <p:spPr>
          <a:xfrm>
            <a:off x="2485585" y="2568278"/>
            <a:ext cx="6365808" cy="671769"/>
          </a:xfrm>
          <a:prstGeom prst="rect">
            <a:avLst/>
          </a:prstGeom>
        </p:spPr>
      </p:pic>
    </p:spTree>
    <p:extLst>
      <p:ext uri="{BB962C8B-B14F-4D97-AF65-F5344CB8AC3E}">
        <p14:creationId xmlns:p14="http://schemas.microsoft.com/office/powerpoint/2010/main" val="23155138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0B1E1-374C-0962-4071-7B8D51CE6827}"/>
              </a:ext>
            </a:extLst>
          </p:cNvPr>
          <p:cNvSpPr>
            <a:spLocks noGrp="1"/>
          </p:cNvSpPr>
          <p:nvPr>
            <p:ph type="title"/>
          </p:nvPr>
        </p:nvSpPr>
        <p:spPr/>
        <p:txBody>
          <a:bodyPr/>
          <a:lstStyle/>
          <a:p>
            <a:r>
              <a:rPr lang="en-US" dirty="0"/>
              <a:t>Program Performance</a:t>
            </a:r>
          </a:p>
        </p:txBody>
      </p:sp>
      <p:sp>
        <p:nvSpPr>
          <p:cNvPr id="3" name="Content Placeholder 2">
            <a:extLst>
              <a:ext uri="{FF2B5EF4-FFF2-40B4-BE49-F238E27FC236}">
                <a16:creationId xmlns:a16="http://schemas.microsoft.com/office/drawing/2014/main" id="{1CA05244-BDF5-2CD7-A55F-10FA87682ACD}"/>
              </a:ext>
            </a:extLst>
          </p:cNvPr>
          <p:cNvSpPr>
            <a:spLocks noGrp="1"/>
          </p:cNvSpPr>
          <p:nvPr>
            <p:ph idx="1"/>
          </p:nvPr>
        </p:nvSpPr>
        <p:spPr/>
        <p:txBody>
          <a:bodyPr/>
          <a:lstStyle/>
          <a:p>
            <a:r>
              <a:rPr lang="en-US" dirty="0"/>
              <a:t>The performance of a program depends on</a:t>
            </a:r>
          </a:p>
        </p:txBody>
      </p:sp>
      <p:pic>
        <p:nvPicPr>
          <p:cNvPr id="5" name="Picture 4">
            <a:extLst>
              <a:ext uri="{FF2B5EF4-FFF2-40B4-BE49-F238E27FC236}">
                <a16:creationId xmlns:a16="http://schemas.microsoft.com/office/drawing/2014/main" id="{65BD1B3E-3E9C-FF20-59F8-C80C29740B01}"/>
              </a:ext>
            </a:extLst>
          </p:cNvPr>
          <p:cNvPicPr>
            <a:picLocks noChangeAspect="1"/>
          </p:cNvPicPr>
          <p:nvPr/>
        </p:nvPicPr>
        <p:blipFill>
          <a:blip r:embed="rId2"/>
          <a:stretch>
            <a:fillRect/>
          </a:stretch>
        </p:blipFill>
        <p:spPr>
          <a:xfrm>
            <a:off x="2971800" y="2524125"/>
            <a:ext cx="6248400" cy="4333875"/>
          </a:xfrm>
          <a:prstGeom prst="rect">
            <a:avLst/>
          </a:prstGeom>
        </p:spPr>
      </p:pic>
    </p:spTree>
    <p:extLst>
      <p:ext uri="{BB962C8B-B14F-4D97-AF65-F5344CB8AC3E}">
        <p14:creationId xmlns:p14="http://schemas.microsoft.com/office/powerpoint/2010/main" val="16794805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13236-8A10-92D7-AA02-585F49D2AFBB}"/>
              </a:ext>
            </a:extLst>
          </p:cNvPr>
          <p:cNvSpPr>
            <a:spLocks noGrp="1"/>
          </p:cNvSpPr>
          <p:nvPr>
            <p:ph type="title"/>
          </p:nvPr>
        </p:nvSpPr>
        <p:spPr/>
        <p:txBody>
          <a:bodyPr/>
          <a:lstStyle/>
          <a:p>
            <a:r>
              <a:rPr lang="en-US" dirty="0"/>
              <a:t>Elaboration</a:t>
            </a:r>
          </a:p>
        </p:txBody>
      </p:sp>
      <p:sp>
        <p:nvSpPr>
          <p:cNvPr id="3" name="Content Placeholder 2">
            <a:extLst>
              <a:ext uri="{FF2B5EF4-FFF2-40B4-BE49-F238E27FC236}">
                <a16:creationId xmlns:a16="http://schemas.microsoft.com/office/drawing/2014/main" id="{63F6EFEF-F230-DF86-D7D9-AC1AC2867833}"/>
              </a:ext>
            </a:extLst>
          </p:cNvPr>
          <p:cNvSpPr>
            <a:spLocks noGrp="1"/>
          </p:cNvSpPr>
          <p:nvPr>
            <p:ph idx="1"/>
          </p:nvPr>
        </p:nvSpPr>
        <p:spPr/>
        <p:txBody>
          <a:bodyPr/>
          <a:lstStyle/>
          <a:p>
            <a:r>
              <a:rPr lang="en-US" dirty="0"/>
              <a:t>Although you might expect that the minimum CPI is 1.0, as we’ll see in Chapter 4, some processors fetch and execute multiple instructions per clock cycle. </a:t>
            </a:r>
          </a:p>
          <a:p>
            <a:r>
              <a:rPr lang="en-US" dirty="0"/>
              <a:t>To reflect that approach, some designers invert CPI to talk about IPC, or instructions per clock cycle. If a processor executes on average 2 instructions per clock cycle, then it has an IPC of 2 and hence a CPI of 0.5.</a:t>
            </a:r>
          </a:p>
        </p:txBody>
      </p:sp>
    </p:spTree>
    <p:extLst>
      <p:ext uri="{BB962C8B-B14F-4D97-AF65-F5344CB8AC3E}">
        <p14:creationId xmlns:p14="http://schemas.microsoft.com/office/powerpoint/2010/main" val="21317303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C5B95-C43A-4C97-B251-8311C8B9F2FF}"/>
              </a:ext>
            </a:extLst>
          </p:cNvPr>
          <p:cNvSpPr>
            <a:spLocks noGrp="1"/>
          </p:cNvSpPr>
          <p:nvPr>
            <p:ph type="title"/>
          </p:nvPr>
        </p:nvSpPr>
        <p:spPr/>
        <p:txBody>
          <a:bodyPr/>
          <a:lstStyle/>
          <a:p>
            <a:r>
              <a:rPr lang="en-US" dirty="0"/>
              <a:t>Elaboration</a:t>
            </a:r>
          </a:p>
        </p:txBody>
      </p:sp>
      <p:sp>
        <p:nvSpPr>
          <p:cNvPr id="3" name="Content Placeholder 2">
            <a:extLst>
              <a:ext uri="{FF2B5EF4-FFF2-40B4-BE49-F238E27FC236}">
                <a16:creationId xmlns:a16="http://schemas.microsoft.com/office/drawing/2014/main" id="{0131A134-D197-2C73-28FD-8B9544640C10}"/>
              </a:ext>
            </a:extLst>
          </p:cNvPr>
          <p:cNvSpPr>
            <a:spLocks noGrp="1"/>
          </p:cNvSpPr>
          <p:nvPr>
            <p:ph idx="1"/>
          </p:nvPr>
        </p:nvSpPr>
        <p:spPr/>
        <p:txBody>
          <a:bodyPr/>
          <a:lstStyle/>
          <a:p>
            <a:r>
              <a:rPr lang="en-US" dirty="0"/>
              <a:t>Although clock cycle time has traditionally been fixed, to save energy or temporarily boost performance, today’s processors can vary their clock rates, so we would need to use the average clock rate for a program. </a:t>
            </a:r>
          </a:p>
          <a:p>
            <a:r>
              <a:rPr lang="en-US" dirty="0"/>
              <a:t>For example, the Intel Core i7 will temporarily increase clock rate by about 10% until the chip gets too warm. Intel calls this Turbo mode.</a:t>
            </a:r>
          </a:p>
        </p:txBody>
      </p:sp>
    </p:spTree>
    <p:extLst>
      <p:ext uri="{BB962C8B-B14F-4D97-AF65-F5344CB8AC3E}">
        <p14:creationId xmlns:p14="http://schemas.microsoft.com/office/powerpoint/2010/main" val="426136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684</TotalTime>
  <Words>2108</Words>
  <Application>Microsoft Office PowerPoint</Application>
  <PresentationFormat>Widescreen</PresentationFormat>
  <Paragraphs>155</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Aptos Display</vt:lpstr>
      <vt:lpstr>Arial</vt:lpstr>
      <vt:lpstr>Courier New</vt:lpstr>
      <vt:lpstr>Times New Roman</vt:lpstr>
      <vt:lpstr>Office Theme</vt:lpstr>
      <vt:lpstr>Computer Organization and Assembly Language</vt:lpstr>
      <vt:lpstr>Why study computer organization?</vt:lpstr>
      <vt:lpstr>Why study computer organization? (Contd.)</vt:lpstr>
      <vt:lpstr>Why study computer organization? (Contd.)</vt:lpstr>
      <vt:lpstr>Why study computer organization? (Contd.)</vt:lpstr>
      <vt:lpstr>Why study computer organization? (Contd.)</vt:lpstr>
      <vt:lpstr>Why study computer organization? (Contd.)</vt:lpstr>
      <vt:lpstr>Why study computer organization? (Contd.)</vt:lpstr>
      <vt:lpstr>Why study computer organization? (Contd.)</vt:lpstr>
      <vt:lpstr>Why study computer organization? (Contd.)</vt:lpstr>
      <vt:lpstr>High Level to Machine Level</vt:lpstr>
      <vt:lpstr>Measuring Performance</vt:lpstr>
      <vt:lpstr>Measuring Performance</vt:lpstr>
      <vt:lpstr>CPU Performance and Its Factors</vt:lpstr>
      <vt:lpstr>CPU Performance and Its Factors</vt:lpstr>
      <vt:lpstr>Example: Improving Performance </vt:lpstr>
      <vt:lpstr>Example: Improving Performance </vt:lpstr>
      <vt:lpstr>Instruction Performance </vt:lpstr>
      <vt:lpstr>Instruction Performance </vt:lpstr>
      <vt:lpstr>Example: Instruction Performance </vt:lpstr>
      <vt:lpstr>Example: Instruction Performance </vt:lpstr>
      <vt:lpstr>The Classic CPU Performance Equation</vt:lpstr>
      <vt:lpstr>The Classic CPU Performance Equation</vt:lpstr>
      <vt:lpstr>Example: Comparing Code Segments </vt:lpstr>
      <vt:lpstr>Example: Comparing Code Segments </vt:lpstr>
      <vt:lpstr>The Classic CPU Performance Equation</vt:lpstr>
      <vt:lpstr>The Classic CPU Performance Equation</vt:lpstr>
      <vt:lpstr>Program Performance</vt:lpstr>
      <vt:lpstr>Elaboration</vt:lpstr>
      <vt:lpstr>Elaboration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Organization and Assembly Language</dc:title>
  <dc:creator>Farhan Ammar Ahmad</dc:creator>
  <cp:lastModifiedBy>Farhan Ammar Ahmad</cp:lastModifiedBy>
  <cp:revision>109</cp:revision>
  <dcterms:created xsi:type="dcterms:W3CDTF">2024-02-28T10:05:46Z</dcterms:created>
  <dcterms:modified xsi:type="dcterms:W3CDTF">2024-03-07T04:21:24Z</dcterms:modified>
</cp:coreProperties>
</file>